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in one line: an IoT screening system that uses biosensor readings and an ensemble ML model to flag liver disease risk in real time. Dataset is the real Kaggle ILPD dataset (583 records). Fill in your name/roll number/guide/department on this slide before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points: liver disease is asymptomatic early; diagnosis depends on lab-based LFT panels; all LFT parameters are measurable with biosensors, which is why an IoT screening device is feasible. Mention rural/primary-care relevance for India. If asked about the 2M figure: Asrani et al., Journal of Hepatology 2019 — ~1M deaths from cirrhosis complications + ~1M from viral hepatitis &amp; liver cancer.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three challenges clearly: sensing, prediction on noisy imbalanced data, and real-time delivery. The class imbalance numbers (416 vs 167) come straight from the ILPD dataset — examiners like when you know your data. The limitation line sets up the Research Gap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rows left→right. The takeaway sentence is the bridge to the literature review: research exists in both ML and IoT, but the two worlds have not been joined. If asked for examples: jaundice meters (JM-105), ESP32 color-sensor wearables (Fatoni 2025).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Papers 1–5 are the ML-prediction line. Tell the story chronologically: PSO-SVM (2019) → software tools (2020) → RF comparisons (2018/2023) → preprocessing-heavy ensembles claiming 99% (2024, likely overfit). The consistent limitation: everything is offline/desktop, nothing is connected to sensors. Know at least one number from each row — examiners test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Papers 6–10: recent tuning studies (85%, 79%), real-world hospital-data study (RF 80.6%, ALP most influential — supports our sensor choice), then the two closest works: LivXAI-Net (IoT + XAI but only SIMULATED sensors on historical data) and Fatoni's ESP32 wearable (real hardware but only bilirubin, no risk model). This directly motivates the research gap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most-defended slide. Each gap maps to specific papers: G1 → every ML paper + LivXAI-Net's simulated sensors; G2 → Fatoni 2025 &amp; jaundice meters; G3 → accuracy-only evaluation in papers 2, 4, 5; G4 → nobody provides a REST endpoint. End with the boxed statement — that single sentence is the gap.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right-hand tags: every objective closes a named gap. O2's targets (≥72% accuracy, ≥90% recall) were set from literature: ILPD studies report 71–88% accuracy, and screening demands high sensitivity. O5 is the hardware objective for the final phase.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left to right: sensors produce the exact 10 ILPD parameters (that is the design rule — every model input must be sensor-measurable). ESP32 computes derived ratios locally and POSTs JSON to the Flask API; the ensemble returns risk probability. The four cards below name dataset, algorithms, software and hardware. If asked why cloud and not on-device: model is small enough for edge later, but cloud-first simplifies updates and logging.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across each row: left = what literature does, right = what we do differently. The novelty box is your one-sentence elevator pitch — memorize it. Note the deliberate recall focus (row 3) which answers 'why not just maximize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 software/ML vs deployment/validation. Emphasize that the API was tested with a real patient record (96.6% HIGH) and a healthy record (44.5% LOW). Offer to show the live dashboard during the review — this is your strongest impression point. Remaining work = hardware phase +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single models top out around 0.68–0.71 accuracy on this noisy dataset; the ensemble lifts AUC to 0.813. The key number is RECALL 91.3% — in screening, missing a patient (FN=9) is the dangerous error, and we keep it low. Accuracy 73.3% is honest and in-line with literature (Singh 2020: 71.9%, Tokala 2023: 88% with less strict protocol). The 30 false positives are acceptable: they are simply referred for a confirmatory lab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matters: hardware first (that is the IoT deliverable), then connectivity/logging, explainability, model validation, and finally a pilot. End with the boxed expected outcome. Timeline if asked: hardware prototype in 3–4 weeks, pilot in the final month.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references: 8 ML-prediction papers, 1 IoT+ML framework (LivXAI-Net), 2 sensor-hardware papers, the global disease-burden citation (Asrani 2019) and the dataset citation. Consistent IEEE-style format. If asked 'which papers influenced you most': LivXAI-Net (IoT+ML feasibility), Tokala 2023 (RF strength on ILPD), El Atifi 2025 (tuning strategy).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395728"/>
            <a:ext cx="82296" cy="19659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72768"/>
            <a:ext cx="10058400" cy="365760"/>
          </a:xfrm>
          <a:prstGeom prst="rect">
            <a:avLst/>
          </a:prstGeom>
          <a:noFill/>
        </p:spPr>
        <p:txBody>
          <a:bodyPr wrap="square" anchor="t">
            <a:spAutoFit/>
          </a:bodyPr>
          <a:lstStyle/>
          <a:p>
            <a:pPr algn="l">
              <a:lnSpc>
                <a:spcPct val="100000"/>
              </a:lnSpc>
              <a:spcAft>
                <a:spcPts val="600"/>
              </a:spcAft>
            </a:pPr>
            <a:r>
              <a:rPr sz="1400" b="1" i="0">
                <a:solidFill>
                  <a:srgbClr val="0E7490"/>
                </a:solidFill>
                <a:latin typeface="Calibri"/>
              </a:rPr>
              <a:t>MID REVIEW  •  INDIVIDUAL PROJECT</a:t>
            </a:r>
          </a:p>
        </p:txBody>
      </p:sp>
      <p:sp>
        <p:nvSpPr>
          <p:cNvPr id="5" name="TextBox 4"/>
          <p:cNvSpPr txBox="1"/>
          <p:nvPr/>
        </p:nvSpPr>
        <p:spPr>
          <a:xfrm>
            <a:off x="1097280" y="2148840"/>
            <a:ext cx="10424160" cy="1737360"/>
          </a:xfrm>
          <a:prstGeom prst="rect">
            <a:avLst/>
          </a:prstGeom>
          <a:noFill/>
        </p:spPr>
        <p:txBody>
          <a:bodyPr wrap="square" anchor="t">
            <a:spAutoFit/>
          </a:bodyPr>
          <a:lstStyle/>
          <a:p>
            <a:pPr algn="l">
              <a:lnSpc>
                <a:spcPct val="105000"/>
              </a:lnSpc>
              <a:spcAft>
                <a:spcPts val="200"/>
              </a:spcAft>
            </a:pPr>
            <a:r>
              <a:rPr sz="4000" b="1" i="0">
                <a:solidFill>
                  <a:srgbClr val="0F172A"/>
                </a:solidFill>
                <a:latin typeface="Calibri"/>
              </a:rPr>
              <a:t>IoT-Based Liver Disease Risk Prediction</a:t>
            </a:r>
          </a:p>
          <a:p>
            <a:pPr algn="l">
              <a:lnSpc>
                <a:spcPct val="105000"/>
              </a:lnSpc>
              <a:spcAft>
                <a:spcPts val="200"/>
              </a:spcAft>
            </a:pPr>
            <a:r>
              <a:rPr sz="4000" b="1" i="0">
                <a:solidFill>
                  <a:srgbClr val="0F172A"/>
                </a:solidFill>
                <a:latin typeface="Calibri"/>
              </a:rPr>
              <a:t>using Ensemble Machine Learning</a:t>
            </a:r>
          </a:p>
        </p:txBody>
      </p:sp>
      <p:sp>
        <p:nvSpPr>
          <p:cNvPr id="6" name="TextBox 5"/>
          <p:cNvSpPr txBox="1"/>
          <p:nvPr/>
        </p:nvSpPr>
        <p:spPr>
          <a:xfrm>
            <a:off x="1097280" y="3977639"/>
            <a:ext cx="10058400" cy="822960"/>
          </a:xfrm>
          <a:prstGeom prst="rect">
            <a:avLst/>
          </a:prstGeom>
          <a:noFill/>
        </p:spPr>
        <p:txBody>
          <a:bodyPr wrap="square" anchor="t">
            <a:spAutoFit/>
          </a:bodyPr>
          <a:lstStyle/>
          <a:p>
            <a:pPr algn="l">
              <a:lnSpc>
                <a:spcPct val="110000"/>
              </a:lnSpc>
              <a:spcAft>
                <a:spcPts val="600"/>
              </a:spcAft>
            </a:pPr>
            <a:r>
              <a:rPr sz="1600" b="0" i="1">
                <a:solidFill>
                  <a:srgbClr val="64748B"/>
                </a:solidFill>
                <a:latin typeface="Calibri"/>
              </a:rPr>
              <a:t>A sensor-driven point-of-care screening system: biosensor readings → cloud ensemble model → real-time risk assessment</a:t>
            </a:r>
          </a:p>
        </p:txBody>
      </p:sp>
      <p:sp>
        <p:nvSpPr>
          <p:cNvPr id="7" name="Rounded Rectangle 6"/>
          <p:cNvSpPr/>
          <p:nvPr/>
        </p:nvSpPr>
        <p:spPr>
          <a:xfrm>
            <a:off x="1097280" y="5257800"/>
            <a:ext cx="9966960" cy="914400"/>
          </a:xfrm>
          <a:prstGeom prst="roundRect">
            <a:avLst>
              <a:gd name="adj" fmla="val 8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0817" bIns="140817" wrap="square"/>
          <a:lstStyle/>
          <a:p>
            <a:pPr algn="l">
              <a:lnSpc>
                <a:spcPct val="100000"/>
              </a:lnSpc>
              <a:spcAft>
                <a:spcPts val="800"/>
              </a:spcAft>
            </a:pPr>
            <a:r>
              <a:rPr sz="1350" b="0" i="0">
                <a:solidFill>
                  <a:srgbClr val="334155"/>
                </a:solidFill>
                <a:latin typeface="Calibri"/>
              </a:rPr>
              <a:t>Presented by:  ________________________        Roll No:  ____________________</a:t>
            </a:r>
          </a:p>
          <a:p>
            <a:pPr algn="l">
              <a:lnSpc>
                <a:spcPct val="100000"/>
              </a:lnSpc>
              <a:spcAft>
                <a:spcPts val="800"/>
              </a:spcAft>
            </a:pPr>
            <a:r>
              <a:rPr sz="1350" b="0" i="0">
                <a:solidFill>
                  <a:srgbClr val="334155"/>
                </a:solidFill>
                <a:latin typeface="Calibri"/>
              </a:rPr>
              <a:t>Guide:  ________________________        Department / Class:  ____________________________</a:t>
            </a:r>
          </a:p>
        </p:txBody>
      </p:sp>
      <p:sp>
        <p:nvSpPr>
          <p:cNvPr id="8" name="TextBox 7"/>
          <p:cNvSpPr txBox="1"/>
          <p:nvPr/>
        </p:nvSpPr>
        <p:spPr>
          <a:xfrm>
            <a:off x="1097280" y="6355080"/>
            <a:ext cx="10058400" cy="320040"/>
          </a:xfrm>
          <a:prstGeom prst="rect">
            <a:avLst/>
          </a:prstGeom>
          <a:noFill/>
        </p:spPr>
        <p:txBody>
          <a:bodyPr wrap="square" anchor="t">
            <a:spAutoFit/>
          </a:bodyPr>
          <a:lstStyle/>
          <a:p>
            <a:pPr algn="l">
              <a:lnSpc>
                <a:spcPct val="100000"/>
              </a:lnSpc>
              <a:spcAft>
                <a:spcPts val="600"/>
              </a:spcAft>
            </a:pPr>
            <a:r>
              <a:rPr sz="1100" b="0" i="0">
                <a:solidFill>
                  <a:srgbClr val="64748B"/>
                </a:solidFill>
                <a:latin typeface="Calibri"/>
              </a:rPr>
              <a:t>Dataset: Indian Liver Patient Records (ILPD) — Kaggle / UCI Repository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INTRODUCTION</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Introduction &amp; Background</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2</a:t>
            </a:r>
          </a:p>
        </p:txBody>
      </p:sp>
      <p:sp>
        <p:nvSpPr>
          <p:cNvPr id="9" name="Rounded Rectangle 8"/>
          <p:cNvSpPr/>
          <p:nvPr/>
        </p:nvSpPr>
        <p:spPr>
          <a:xfrm>
            <a:off x="521207" y="1536192"/>
            <a:ext cx="5486400" cy="2377440"/>
          </a:xfrm>
          <a:prstGeom prst="roundRect">
            <a:avLst>
              <a:gd name="adj" fmla="val 5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15214" bIns="115214" wrap="square"/>
          <a:lstStyle/>
          <a:p>
            <a:pPr algn="l">
              <a:lnSpc>
                <a:spcPct val="100000"/>
              </a:lnSpc>
              <a:spcAft>
                <a:spcPts val="800"/>
              </a:spcAft>
            </a:pPr>
            <a:r>
              <a:rPr sz="1450" b="0" i="0">
                <a:solidFill>
                  <a:srgbClr val="334155"/>
                </a:solidFill>
                <a:latin typeface="Calibri"/>
              </a:rPr>
              <a:t>▪  Domain: Healthcare IoT — point-of-care biosensors combined with Machine Learning for early disease screening</a:t>
            </a:r>
          </a:p>
          <a:p>
            <a:pPr algn="l">
              <a:lnSpc>
                <a:spcPct val="100000"/>
              </a:lnSpc>
              <a:spcAft>
                <a:spcPts val="800"/>
              </a:spcAft>
            </a:pPr>
            <a:r>
              <a:rPr sz="1450" b="0" i="0">
                <a:solidFill>
                  <a:srgbClr val="334155"/>
                </a:solidFill>
                <a:latin typeface="Calibri"/>
              </a:rPr>
              <a:t>▪  Liver disease is a “silent killer”: symptoms appear only at advanced stages (cirrhosis, failure)</a:t>
            </a:r>
          </a:p>
          <a:p>
            <a:pPr algn="l">
              <a:lnSpc>
                <a:spcPct val="100000"/>
              </a:lnSpc>
              <a:spcAft>
                <a:spcPts val="800"/>
              </a:spcAft>
            </a:pPr>
            <a:r>
              <a:rPr sz="1450" b="0" i="0">
                <a:solidFill>
                  <a:srgbClr val="334155"/>
                </a:solidFill>
                <a:latin typeface="Calibri"/>
              </a:rPr>
              <a:t>▪  ≈ 2 million liver-disease deaths worldwide every year (Asrani et al., J. Hepatol., 2019); India carries a high burden</a:t>
            </a:r>
          </a:p>
          <a:p>
            <a:pPr algn="l">
              <a:lnSpc>
                <a:spcPct val="100000"/>
              </a:lnSpc>
              <a:spcAft>
                <a:spcPts val="800"/>
              </a:spcAft>
            </a:pPr>
            <a:r>
              <a:rPr sz="1450" b="0" i="0">
                <a:solidFill>
                  <a:srgbClr val="334155"/>
                </a:solidFill>
                <a:latin typeface="Calibri"/>
              </a:rPr>
              <a:t>▪  Screening today = Liver Function Test (LFT) panel from a blood sample at a lab — slow, invasive, costly</a:t>
            </a:r>
          </a:p>
        </p:txBody>
      </p:sp>
      <p:sp>
        <p:nvSpPr>
          <p:cNvPr id="10" name="Rounded Rectangle 9"/>
          <p:cNvSpPr/>
          <p:nvPr/>
        </p:nvSpPr>
        <p:spPr>
          <a:xfrm>
            <a:off x="6263640" y="1536192"/>
            <a:ext cx="5413248" cy="2377440"/>
          </a:xfrm>
          <a:prstGeom prst="roundRect">
            <a:avLst>
              <a:gd name="adj" fmla="val 5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15214" bIns="115214" wrap="square"/>
          <a:lstStyle/>
          <a:p>
            <a:pPr algn="l">
              <a:lnSpc>
                <a:spcPct val="100000"/>
              </a:lnSpc>
              <a:spcAft>
                <a:spcPts val="800"/>
              </a:spcAft>
            </a:pPr>
            <a:r>
              <a:rPr sz="1450" b="1" i="0">
                <a:solidFill>
                  <a:srgbClr val="334155"/>
                </a:solidFill>
                <a:latin typeface="Calibri"/>
              </a:rPr>
              <a:t>▪  Motivation: every LFT biomarker can be measured with compact biosensors:</a:t>
            </a:r>
          </a:p>
          <a:p>
            <a:pPr algn="l">
              <a:lnSpc>
                <a:spcPct val="100000"/>
              </a:lnSpc>
              <a:spcAft>
                <a:spcPts val="800"/>
              </a:spcAft>
            </a:pPr>
            <a:r>
              <a:rPr sz="1300" b="0" i="0">
                <a:solidFill>
                  <a:srgbClr val="334155"/>
                </a:solidFill>
                <a:latin typeface="Calibri"/>
              </a:rPr>
              <a:t>      –  Bilirubin → optical sensor (450 nm, like a jaundice meter)</a:t>
            </a:r>
          </a:p>
          <a:p>
            <a:pPr algn="l">
              <a:lnSpc>
                <a:spcPct val="100000"/>
              </a:lnSpc>
              <a:spcAft>
                <a:spcPts val="800"/>
              </a:spcAft>
            </a:pPr>
            <a:r>
              <a:rPr sz="1300" b="0" i="0">
                <a:solidFill>
                  <a:srgbClr val="334155"/>
                </a:solidFill>
                <a:latin typeface="Calibri"/>
              </a:rPr>
              <a:t>      –  ALT / AST / ALP → electrochemical enzyme biosensors</a:t>
            </a:r>
          </a:p>
          <a:p>
            <a:pPr algn="l">
              <a:lnSpc>
                <a:spcPct val="100000"/>
              </a:lnSpc>
              <a:spcAft>
                <a:spcPts val="800"/>
              </a:spcAft>
            </a:pPr>
            <a:r>
              <a:rPr sz="1300" b="0" i="0">
                <a:solidFill>
                  <a:srgbClr val="334155"/>
                </a:solidFill>
                <a:latin typeface="Calibri"/>
              </a:rPr>
              <a:t>      –  Proteins / Albumin → bio-impedance &amp; immuno-sensors</a:t>
            </a:r>
          </a:p>
          <a:p>
            <a:pPr algn="l">
              <a:lnSpc>
                <a:spcPct val="100000"/>
              </a:lnSpc>
              <a:spcAft>
                <a:spcPts val="800"/>
              </a:spcAft>
            </a:pPr>
            <a:r>
              <a:rPr sz="1450" b="0" i="0">
                <a:solidFill>
                  <a:srgbClr val="334155"/>
                </a:solidFill>
                <a:latin typeface="Calibri"/>
              </a:rPr>
              <a:t>▪  Sensor readings + ML risk score = affordable screening for rural / primary healthcare</a:t>
            </a:r>
          </a:p>
        </p:txBody>
      </p:sp>
      <p:sp>
        <p:nvSpPr>
          <p:cNvPr id="11" name="Rounded Rectangle 10"/>
          <p:cNvSpPr/>
          <p:nvPr/>
        </p:nvSpPr>
        <p:spPr>
          <a:xfrm>
            <a:off x="521207" y="4114800"/>
            <a:ext cx="11155680" cy="20574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lnSpc>
                <a:spcPct val="100000"/>
              </a:lnSpc>
              <a:spcAft>
                <a:spcPts val="600"/>
              </a:spcAft>
            </a:pPr>
            <a:r>
              <a:rPr sz="1500" b="1" i="0">
                <a:solidFill>
                  <a:srgbClr val="155E75"/>
                </a:solidFill>
                <a:latin typeface="Calibri"/>
              </a:rPr>
              <a:t>Why this problem matters</a:t>
            </a:r>
          </a:p>
          <a:p>
            <a:pPr algn="l">
              <a:lnSpc>
                <a:spcPct val="100000"/>
              </a:lnSpc>
              <a:spcAft>
                <a:spcPts val="600"/>
              </a:spcAft>
            </a:pPr>
            <a:r>
              <a:rPr sz="1400" b="0" i="0">
                <a:solidFill>
                  <a:srgbClr val="334155"/>
                </a:solidFill>
                <a:latin typeface="Calibri"/>
              </a:rPr>
              <a:t>Early detection changes outcomes: liver disease caught before cirrhosis is largely manageable, while late diagnosis is often fatal. A low-cost device that converts a few sensor readings into an instant, reliable risk score can screen populations that never reach a diagnostic lab — this is the practical motivation for combining IoT sensing with machine learning in this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PROBLEM</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Problem Statement</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3</a:t>
            </a:r>
          </a:p>
        </p:txBody>
      </p:sp>
      <p:sp>
        <p:nvSpPr>
          <p:cNvPr id="9" name="Rounded Rectangle 8"/>
          <p:cNvSpPr/>
          <p:nvPr/>
        </p:nvSpPr>
        <p:spPr>
          <a:xfrm>
            <a:off x="521207" y="1517904"/>
            <a:ext cx="11155680" cy="1051560"/>
          </a:xfrm>
          <a:prstGeom prst="roundRect">
            <a:avLst>
              <a:gd name="adj" fmla="val 6000"/>
            </a:avLst>
          </a:prstGeom>
          <a:solidFill>
            <a:srgbClr val="F0F9FA"/>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140817" bIns="140817" wrap="square"/>
          <a:lstStyle/>
          <a:p>
            <a:pPr algn="l">
              <a:lnSpc>
                <a:spcPct val="100000"/>
              </a:lnSpc>
              <a:spcAft>
                <a:spcPts val="600"/>
              </a:spcAft>
            </a:pPr>
            <a:r>
              <a:rPr sz="1550" b="1" i="0">
                <a:solidFill>
                  <a:srgbClr val="0F172A"/>
                </a:solidFill>
                <a:latin typeface="Calibri"/>
              </a:rPr>
              <a:t>Liver disease is detected late because screening depends on lab-based tests and expert interpretation; there is no affordable, real-time, point-of-care screening that combines multiple liver biomarkers.</a:t>
            </a:r>
          </a:p>
        </p:txBody>
      </p:sp>
      <p:sp>
        <p:nvSpPr>
          <p:cNvPr id="10" name="TextBox 9"/>
          <p:cNvSpPr txBox="1"/>
          <p:nvPr/>
        </p:nvSpPr>
        <p:spPr>
          <a:xfrm>
            <a:off x="521207" y="2743200"/>
            <a:ext cx="10972800" cy="320040"/>
          </a:xfrm>
          <a:prstGeom prst="rect">
            <a:avLst/>
          </a:prstGeom>
          <a:noFill/>
        </p:spPr>
        <p:txBody>
          <a:bodyPr wrap="square" anchor="t">
            <a:spAutoFit/>
          </a:bodyPr>
          <a:lstStyle/>
          <a:p>
            <a:pPr algn="l">
              <a:lnSpc>
                <a:spcPct val="100000"/>
              </a:lnSpc>
              <a:spcAft>
                <a:spcPts val="600"/>
              </a:spcAft>
            </a:pPr>
            <a:r>
              <a:rPr sz="1400" b="1" i="0">
                <a:solidFill>
                  <a:srgbClr val="155E75"/>
                </a:solidFill>
                <a:latin typeface="Calibri"/>
              </a:rPr>
              <a:t>Specific challenges to solve</a:t>
            </a:r>
          </a:p>
        </p:txBody>
      </p:sp>
      <p:sp>
        <p:nvSpPr>
          <p:cNvPr id="11" name="Rounded Rectangle 10"/>
          <p:cNvSpPr/>
          <p:nvPr/>
        </p:nvSpPr>
        <p:spPr>
          <a:xfrm>
            <a:off x="521207" y="3127248"/>
            <a:ext cx="3593592" cy="178308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600"/>
              </a:spcAft>
            </a:pPr>
            <a:r>
              <a:rPr sz="1350" b="1" i="0">
                <a:solidFill>
                  <a:srgbClr val="155E75"/>
                </a:solidFill>
                <a:latin typeface="Calibri"/>
              </a:rPr>
              <a:t>C1 — Sensing</a:t>
            </a:r>
          </a:p>
          <a:p>
            <a:pPr algn="l">
              <a:lnSpc>
                <a:spcPct val="100000"/>
              </a:lnSpc>
              <a:spcAft>
                <a:spcPts val="600"/>
              </a:spcAft>
            </a:pPr>
            <a:r>
              <a:rPr sz="1250" b="0" i="0">
                <a:solidFill>
                  <a:srgbClr val="334155"/>
                </a:solidFill>
                <a:latin typeface="Calibri"/>
              </a:rPr>
              <a:t>Acquire key LFT biomarkers (bilirubin, ALT/AST, ALP, proteins, albumin) outside a laboratory, using sensor modules.</a:t>
            </a:r>
          </a:p>
        </p:txBody>
      </p:sp>
      <p:sp>
        <p:nvSpPr>
          <p:cNvPr id="12" name="Rounded Rectangle 11"/>
          <p:cNvSpPr/>
          <p:nvPr/>
        </p:nvSpPr>
        <p:spPr>
          <a:xfrm>
            <a:off x="4306824" y="3127248"/>
            <a:ext cx="3593592" cy="178308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600"/>
              </a:spcAft>
            </a:pPr>
            <a:r>
              <a:rPr sz="1350" b="1" i="0">
                <a:solidFill>
                  <a:srgbClr val="155E75"/>
                </a:solidFill>
                <a:latin typeface="Calibri"/>
              </a:rPr>
              <a:t>C2 — Prediction</a:t>
            </a:r>
          </a:p>
          <a:p>
            <a:pPr algn="l">
              <a:lnSpc>
                <a:spcPct val="100000"/>
              </a:lnSpc>
              <a:spcAft>
                <a:spcPts val="600"/>
              </a:spcAft>
            </a:pPr>
            <a:r>
              <a:rPr sz="1250" b="0" i="0">
                <a:solidFill>
                  <a:srgbClr val="334155"/>
                </a:solidFill>
                <a:latin typeface="Calibri"/>
              </a:rPr>
              <a:t>Fuse 10 correlated, noisy biomarkers into a reliable risk score on an imbalanced dataset (416 patients vs 167 healthy).</a:t>
            </a:r>
          </a:p>
        </p:txBody>
      </p:sp>
      <p:sp>
        <p:nvSpPr>
          <p:cNvPr id="13" name="Rounded Rectangle 12"/>
          <p:cNvSpPr/>
          <p:nvPr/>
        </p:nvSpPr>
        <p:spPr>
          <a:xfrm>
            <a:off x="8092440" y="3127248"/>
            <a:ext cx="3593592" cy="1783080"/>
          </a:xfrm>
          <a:prstGeom prst="roundRect">
            <a:avLst>
              <a:gd name="adj" fmla="val 7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600"/>
              </a:spcAft>
            </a:pPr>
            <a:r>
              <a:rPr sz="1350" b="1" i="0">
                <a:solidFill>
                  <a:srgbClr val="155E75"/>
                </a:solidFill>
                <a:latin typeface="Calibri"/>
              </a:rPr>
              <a:t>C3 — Real-time delivery</a:t>
            </a:r>
          </a:p>
          <a:p>
            <a:pPr algn="l">
              <a:lnSpc>
                <a:spcPct val="100000"/>
              </a:lnSpc>
              <a:spcAft>
                <a:spcPts val="600"/>
              </a:spcAft>
            </a:pPr>
            <a:r>
              <a:rPr sz="1250" b="0" i="0">
                <a:solidFill>
                  <a:srgbClr val="334155"/>
                </a:solidFill>
                <a:latin typeface="Calibri"/>
              </a:rPr>
              <a:t>Serve predictions instantly to low-cost hardware (ESP32-class nodes) and a dashboard, not as an offline report.</a:t>
            </a:r>
          </a:p>
        </p:txBody>
      </p:sp>
      <p:sp>
        <p:nvSpPr>
          <p:cNvPr id="14" name="TextBox 13"/>
          <p:cNvSpPr txBox="1"/>
          <p:nvPr/>
        </p:nvSpPr>
        <p:spPr>
          <a:xfrm>
            <a:off x="521207" y="5074920"/>
            <a:ext cx="10972800" cy="320040"/>
          </a:xfrm>
          <a:prstGeom prst="rect">
            <a:avLst/>
          </a:prstGeom>
          <a:noFill/>
        </p:spPr>
        <p:txBody>
          <a:bodyPr wrap="square" anchor="t">
            <a:spAutoFit/>
          </a:bodyPr>
          <a:lstStyle/>
          <a:p>
            <a:pPr algn="l">
              <a:lnSpc>
                <a:spcPct val="100000"/>
              </a:lnSpc>
              <a:spcAft>
                <a:spcPts val="600"/>
              </a:spcAft>
            </a:pPr>
            <a:r>
              <a:rPr sz="1400" b="1" i="0">
                <a:solidFill>
                  <a:srgbClr val="155E75"/>
                </a:solidFill>
                <a:latin typeface="Calibri"/>
              </a:rPr>
              <a:t>Limitations of the current system</a:t>
            </a:r>
          </a:p>
        </p:txBody>
      </p:sp>
      <p:sp>
        <p:nvSpPr>
          <p:cNvPr id="15" name="Rounded Rectangle 14"/>
          <p:cNvSpPr/>
          <p:nvPr/>
        </p:nvSpPr>
        <p:spPr>
          <a:xfrm>
            <a:off x="521207" y="5440680"/>
            <a:ext cx="11155680" cy="9144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2412" bIns="102412" wrap="square"/>
          <a:lstStyle/>
          <a:p>
            <a:pPr algn="l">
              <a:lnSpc>
                <a:spcPct val="100000"/>
              </a:lnSpc>
              <a:spcAft>
                <a:spcPts val="400"/>
              </a:spcAft>
            </a:pPr>
            <a:r>
              <a:rPr sz="1350" b="0" i="0">
                <a:solidFill>
                  <a:srgbClr val="334155"/>
                </a:solidFill>
                <a:latin typeface="Calibri"/>
              </a:rPr>
              <a:t>▪  Lab pathway: hours–days turnaround, per-test cost, invasive venous blood draw, hospital visit required, no repeat/continuous monitoring</a:t>
            </a:r>
          </a:p>
          <a:p>
            <a:pPr algn="l">
              <a:lnSpc>
                <a:spcPct val="100000"/>
              </a:lnSpc>
              <a:spcAft>
                <a:spcPts val="400"/>
              </a:spcAft>
            </a:pPr>
            <a:r>
              <a:rPr sz="1350" b="0" i="0">
                <a:solidFill>
                  <a:srgbClr val="334155"/>
                </a:solidFill>
                <a:latin typeface="Calibri"/>
              </a:rPr>
              <a:t>▪  Existing ML studies: offline desktop models — none connected to live sensors; existing IoT devices: single biomarker only, no risk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EXISTING WORK</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Existing System / How It Is Done Today</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4</a:t>
            </a:r>
          </a:p>
        </p:txBody>
      </p:sp>
      <p:graphicFrame>
        <p:nvGraphicFramePr>
          <p:cNvPr id="9" name="Table 8"/>
          <p:cNvGraphicFramePr>
            <a:graphicFrameLocks noGrp="1"/>
          </p:cNvGraphicFramePr>
          <p:nvPr/>
        </p:nvGraphicFramePr>
        <p:xfrm>
          <a:off x="521207" y="1554480"/>
          <a:ext cx="11155680" cy="3785616"/>
        </p:xfrm>
        <a:graphic>
          <a:graphicData uri="http://schemas.openxmlformats.org/drawingml/2006/table">
            <a:tbl>
              <a:tblPr>
                <a:tableStyleId>{5C22544A-7EE6-4342-B048-85BDC9FD1C3A}</a:tableStyleId>
              </a:tblPr>
              <a:tblGrid>
                <a:gridCol w="2377440"/>
                <a:gridCol w="4480560"/>
                <a:gridCol w="4297680"/>
              </a:tblGrid>
              <a:tr h="384048">
                <a:tc>
                  <a:txBody>
                    <a:bodyPr wrap="square"/>
                    <a:lstStyle/>
                    <a:p>
                      <a:r>
                        <a:rPr sz="1200" b="1">
                          <a:solidFill>
                            <a:srgbClr val="FFFFFF"/>
                          </a:solidFill>
                          <a:latin typeface="Calibri"/>
                        </a:rPr>
                        <a:t>Approach</a:t>
                      </a:r>
                    </a:p>
                  </a:txBody>
                  <a:tcPr anchor="ctr" marL="64008" marR="45720" marT="27432" marB="27432">
                    <a:solidFill>
                      <a:srgbClr val="0E7490"/>
                    </a:solidFill>
                  </a:tcPr>
                </a:tc>
                <a:tc>
                  <a:txBody>
                    <a:bodyPr wrap="square"/>
                    <a:lstStyle/>
                    <a:p>
                      <a:r>
                        <a:rPr sz="1200" b="1">
                          <a:solidFill>
                            <a:srgbClr val="FFFFFF"/>
                          </a:solidFill>
                          <a:latin typeface="Calibri"/>
                        </a:rPr>
                        <a:t>How it works</a:t>
                      </a:r>
                    </a:p>
                  </a:txBody>
                  <a:tcPr anchor="ctr" marL="64008" marR="45720" marT="27432" marB="27432">
                    <a:solidFill>
                      <a:srgbClr val="0E7490"/>
                    </a:solidFill>
                  </a:tcPr>
                </a:tc>
                <a:tc>
                  <a:txBody>
                    <a:bodyPr wrap="square"/>
                    <a:lstStyle/>
                    <a:p>
                      <a:r>
                        <a:rPr sz="1200" b="1">
                          <a:solidFill>
                            <a:srgbClr val="FFFFFF"/>
                          </a:solidFill>
                          <a:latin typeface="Calibri"/>
                        </a:rPr>
                        <a:t>Advantages / Limitations</a:t>
                      </a:r>
                    </a:p>
                  </a:txBody>
                  <a:tcPr anchor="ctr" marL="64008" marR="45720" marT="27432" marB="27432">
                    <a:solidFill>
                      <a:srgbClr val="0E7490"/>
                    </a:solidFill>
                  </a:tcPr>
                </a:tc>
              </a:tr>
              <a:tr h="1133856">
                <a:tc>
                  <a:txBody>
                    <a:bodyPr wrap="square"/>
                    <a:lstStyle/>
                    <a:p>
                      <a:r>
                        <a:rPr sz="1150" b="1">
                          <a:solidFill>
                            <a:srgbClr val="0F172A"/>
                          </a:solidFill>
                          <a:latin typeface="Calibri"/>
                        </a:rPr>
                        <a:t>1. Clinical lab pathway</a:t>
                      </a:r>
                    </a:p>
                  </a:txBody>
                  <a:tcPr anchor="ctr" marL="64008" marR="45720" marT="27432" marB="27432">
                    <a:solidFill>
                      <a:srgbClr val="FFFFFF"/>
                    </a:solidFill>
                  </a:tcPr>
                </a:tc>
                <a:tc>
                  <a:txBody>
                    <a:bodyPr wrap="square"/>
                    <a:lstStyle/>
                    <a:p>
                      <a:r>
                        <a:rPr sz="1150" b="0">
                          <a:solidFill>
                            <a:srgbClr val="334155"/>
                          </a:solidFill>
                          <a:latin typeface="Calibri"/>
                        </a:rPr>
                        <a:t>Blood draw → automated analyser → LFT report (bilirubin, ALT/AST, ALP, proteins) → physician interpretation</a:t>
                      </a:r>
                    </a:p>
                  </a:txBody>
                  <a:tcPr anchor="ctr" marL="64008" marR="45720" marT="27432" marB="27432">
                    <a:solidFill>
                      <a:srgbClr val="FFFFFF"/>
                    </a:solidFill>
                  </a:tcPr>
                </a:tc>
                <a:tc>
                  <a:txBody>
                    <a:bodyPr wrap="square"/>
                    <a:lstStyle/>
                    <a:p>
                      <a:r>
                        <a:rPr sz="1150" b="0">
                          <a:solidFill>
                            <a:srgbClr val="334155"/>
                          </a:solidFill>
                          <a:latin typeface="Calibri"/>
                        </a:rPr>
                        <a:t>✔ Gold standard, full panel
✘ Slow (hours–days), invasive, costly, needs hospital; no continuous monitoring</a:t>
                      </a:r>
                    </a:p>
                  </a:txBody>
                  <a:tcPr anchor="ctr" marL="64008" marR="45720" marT="27432" marB="27432">
                    <a:solidFill>
                      <a:srgbClr val="FFFFFF"/>
                    </a:solidFill>
                  </a:tcPr>
                </a:tc>
              </a:tr>
              <a:tr h="1133856">
                <a:tc>
                  <a:txBody>
                    <a:bodyPr wrap="square"/>
                    <a:lstStyle/>
                    <a:p>
                      <a:r>
                        <a:rPr sz="1150" b="1">
                          <a:solidFill>
                            <a:srgbClr val="0F172A"/>
                          </a:solidFill>
                          <a:latin typeface="Calibri"/>
                        </a:rPr>
                        <a:t>2. Offline ML on ILPD</a:t>
                      </a:r>
                    </a:p>
                  </a:txBody>
                  <a:tcPr anchor="ctr" marL="64008" marR="45720" marT="27432" marB="27432">
                    <a:solidFill>
                      <a:srgbClr val="F8FAFC"/>
                    </a:solidFill>
                  </a:tcPr>
                </a:tc>
                <a:tc>
                  <a:txBody>
                    <a:bodyPr wrap="square"/>
                    <a:lstStyle/>
                    <a:p>
                      <a:r>
                        <a:rPr sz="1150" b="0">
                          <a:solidFill>
                            <a:srgbClr val="334155"/>
                          </a:solidFill>
                          <a:latin typeface="Calibri"/>
                        </a:rPr>
                        <a:t>Single classifiers (SVM, Decision Tree, Random Forest, k-NN) trained on the ILPD benchmark dataset</a:t>
                      </a:r>
                    </a:p>
                  </a:txBody>
                  <a:tcPr anchor="ctr" marL="64008" marR="45720" marT="27432" marB="27432">
                    <a:solidFill>
                      <a:srgbClr val="F8FAFC"/>
                    </a:solidFill>
                  </a:tcPr>
                </a:tc>
                <a:tc>
                  <a:txBody>
                    <a:bodyPr wrap="square"/>
                    <a:lstStyle/>
                    <a:p>
                      <a:r>
                        <a:rPr sz="1150" b="0">
                          <a:solidFill>
                            <a:srgbClr val="334155"/>
                          </a:solidFill>
                          <a:latin typeface="Calibri"/>
                        </a:rPr>
                        <a:t>✔ Proves biomarkers are predictive (60–88% accuracy)
✘ Desktop/offline only, no sensor input, no real-time output, often ignores class imbalance</a:t>
                      </a:r>
                    </a:p>
                  </a:txBody>
                  <a:tcPr anchor="ctr" marL="64008" marR="45720" marT="27432" marB="27432">
                    <a:solidFill>
                      <a:srgbClr val="F8FAFC"/>
                    </a:solidFill>
                  </a:tcPr>
                </a:tc>
              </a:tr>
              <a:tr h="1133856">
                <a:tc>
                  <a:txBody>
                    <a:bodyPr wrap="square"/>
                    <a:lstStyle/>
                    <a:p>
                      <a:r>
                        <a:rPr sz="1150" b="1">
                          <a:solidFill>
                            <a:srgbClr val="0F172A"/>
                          </a:solidFill>
                          <a:latin typeface="Calibri"/>
                        </a:rPr>
                        <a:t>3. Standalone IoT devices</a:t>
                      </a:r>
                    </a:p>
                  </a:txBody>
                  <a:tcPr anchor="ctr" marL="64008" marR="45720" marT="27432" marB="27432">
                    <a:solidFill>
                      <a:srgbClr val="FFFFFF"/>
                    </a:solidFill>
                  </a:tcPr>
                </a:tc>
                <a:tc>
                  <a:txBody>
                    <a:bodyPr wrap="square"/>
                    <a:lstStyle/>
                    <a:p>
                      <a:r>
                        <a:rPr sz="1150" b="0">
                          <a:solidFill>
                            <a:srgbClr val="334155"/>
                          </a:solidFill>
                          <a:latin typeface="Calibri"/>
                        </a:rPr>
                        <a:t>Transcutaneous bilirubin meters, neonatal jaundice wearables (color sensor + ESP32), bilirubin test strips</a:t>
                      </a:r>
                    </a:p>
                  </a:txBody>
                  <a:tcPr anchor="ctr" marL="64008" marR="45720" marT="27432" marB="27432">
                    <a:solidFill>
                      <a:srgbClr val="FFFFFF"/>
                    </a:solidFill>
                  </a:tcPr>
                </a:tc>
                <a:tc>
                  <a:txBody>
                    <a:bodyPr wrap="square"/>
                    <a:lstStyle/>
                    <a:p>
                      <a:r>
                        <a:rPr sz="1150" b="0">
                          <a:solidFill>
                            <a:srgbClr val="334155"/>
                          </a:solidFill>
                          <a:latin typeface="Calibri"/>
                        </a:rPr>
                        <a:t>✔ Non-invasive, portable, real-time
✘ Measure only one biomarker — no multi-parameter risk score, no disease-level prediction</a:t>
                      </a:r>
                    </a:p>
                  </a:txBody>
                  <a:tcPr anchor="ctr" marL="64008" marR="45720" marT="27432" marB="27432">
                    <a:solidFill>
                      <a:srgbClr val="FFFFFF"/>
                    </a:solidFill>
                  </a:tcPr>
                </a:tc>
              </a:tr>
            </a:tbl>
          </a:graphicData>
        </a:graphic>
      </p:graphicFrame>
      <p:sp>
        <p:nvSpPr>
          <p:cNvPr id="10" name="Rounded Rectangle 9"/>
          <p:cNvSpPr/>
          <p:nvPr/>
        </p:nvSpPr>
        <p:spPr>
          <a:xfrm>
            <a:off x="521207" y="5504688"/>
            <a:ext cx="11155680" cy="777240"/>
          </a:xfrm>
          <a:prstGeom prst="roundRect">
            <a:avLst>
              <a:gd name="adj" fmla="val 6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lnSpc>
                <a:spcPct val="100000"/>
              </a:lnSpc>
              <a:spcAft>
                <a:spcPts val="600"/>
              </a:spcAft>
            </a:pPr>
            <a:r>
              <a:rPr sz="1350" b="1" i="0">
                <a:solidFill>
                  <a:srgbClr val="155E75"/>
                </a:solidFill>
                <a:latin typeface="Calibri"/>
              </a:rPr>
              <a:t>Takeaway:  each existing approach solves only one part — accurate labs but slow, ML but offline, IoT but single-biomarker. None of them connects real sensor data to a multi-biomarker risk model in real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LITERATURE REVIEW 1 / 2  (PAPERS 1–5)</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Literature Review</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5</a:t>
            </a:r>
          </a:p>
        </p:txBody>
      </p:sp>
      <p:graphicFrame>
        <p:nvGraphicFramePr>
          <p:cNvPr id="9" name="Table 8"/>
          <p:cNvGraphicFramePr>
            <a:graphicFrameLocks noGrp="1"/>
          </p:cNvGraphicFramePr>
          <p:nvPr/>
        </p:nvGraphicFramePr>
        <p:xfrm>
          <a:off x="521207" y="1444752"/>
          <a:ext cx="11155680" cy="4773168"/>
        </p:xfrm>
        <a:graphic>
          <a:graphicData uri="http://schemas.openxmlformats.org/drawingml/2006/table">
            <a:tbl>
              <a:tblPr>
                <a:tableStyleId>{5C22544A-7EE6-4342-B048-85BDC9FD1C3A}</a:tableStyleId>
              </a:tblPr>
              <a:tblGrid>
                <a:gridCol w="292608"/>
                <a:gridCol w="2240280"/>
                <a:gridCol w="3611880"/>
                <a:gridCol w="1783080"/>
                <a:gridCol w="1947672"/>
                <a:gridCol w="1280160"/>
              </a:tblGrid>
              <a:tr h="384048">
                <a:tc>
                  <a:txBody>
                    <a:bodyPr wrap="square"/>
                    <a:lstStyle/>
                    <a:p>
                      <a:r>
                        <a:rPr sz="1000" b="1">
                          <a:solidFill>
                            <a:srgbClr val="FFFFFF"/>
                          </a:solidFill>
                          <a:latin typeface="Calibri"/>
                        </a:rPr>
                        <a:t>#</a:t>
                      </a:r>
                    </a:p>
                  </a:txBody>
                  <a:tcPr anchor="ctr" marL="64008" marR="45720" marT="27432" marB="27432">
                    <a:solidFill>
                      <a:srgbClr val="0E7490"/>
                    </a:solidFill>
                  </a:tcPr>
                </a:tc>
                <a:tc>
                  <a:txBody>
                    <a:bodyPr wrap="square"/>
                    <a:lstStyle/>
                    <a:p>
                      <a:r>
                        <a:rPr sz="1000" b="1">
                          <a:solidFill>
                            <a:srgbClr val="FFFFFF"/>
                          </a:solidFill>
                          <a:latin typeface="Calibri"/>
                        </a:rPr>
                        <a:t>Paper (Authors, Venue)</a:t>
                      </a:r>
                    </a:p>
                  </a:txBody>
                  <a:tcPr anchor="ctr" marL="64008" marR="45720" marT="27432" marB="27432">
                    <a:solidFill>
                      <a:srgbClr val="0E7490"/>
                    </a:solidFill>
                  </a:tcPr>
                </a:tc>
                <a:tc>
                  <a:txBody>
                    <a:bodyPr wrap="square"/>
                    <a:lstStyle/>
                    <a:p>
                      <a:r>
                        <a:rPr sz="1000" b="1">
                          <a:solidFill>
                            <a:srgbClr val="FFFFFF"/>
                          </a:solidFill>
                          <a:latin typeface="Calibri"/>
                        </a:rPr>
                        <a:t>Problem &amp; Method</a:t>
                      </a:r>
                    </a:p>
                  </a:txBody>
                  <a:tcPr anchor="ctr" marL="64008" marR="45720" marT="27432" marB="27432">
                    <a:solidFill>
                      <a:srgbClr val="0E7490"/>
                    </a:solidFill>
                  </a:tcPr>
                </a:tc>
                <a:tc>
                  <a:txBody>
                    <a:bodyPr wrap="square"/>
                    <a:lstStyle/>
                    <a:p>
                      <a:r>
                        <a:rPr sz="1000" b="1">
                          <a:solidFill>
                            <a:srgbClr val="FFFFFF"/>
                          </a:solidFill>
                          <a:latin typeface="Calibri"/>
                        </a:rPr>
                        <a:t>Key Findings</a:t>
                      </a:r>
                    </a:p>
                  </a:txBody>
                  <a:tcPr anchor="ctr" marL="64008" marR="45720" marT="27432" marB="27432">
                    <a:solidFill>
                      <a:srgbClr val="0E7490"/>
                    </a:solidFill>
                  </a:tcPr>
                </a:tc>
                <a:tc>
                  <a:txBody>
                    <a:bodyPr wrap="square"/>
                    <a:lstStyle/>
                    <a:p>
                      <a:r>
                        <a:rPr sz="1000" b="1">
                          <a:solidFill>
                            <a:srgbClr val="FFFFFF"/>
                          </a:solidFill>
                          <a:latin typeface="Calibri"/>
                        </a:rPr>
                        <a:t>Limitation</a:t>
                      </a:r>
                    </a:p>
                  </a:txBody>
                  <a:tcPr anchor="ctr" marL="64008" marR="45720" marT="27432" marB="27432">
                    <a:solidFill>
                      <a:srgbClr val="0E7490"/>
                    </a:solidFill>
                  </a:tcPr>
                </a:tc>
                <a:tc>
                  <a:txBody>
                    <a:bodyPr wrap="square"/>
                    <a:lstStyle/>
                    <a:p>
                      <a:r>
                        <a:rPr sz="1000" b="1">
                          <a:solidFill>
                            <a:srgbClr val="FFFFFF"/>
                          </a:solidFill>
                          <a:latin typeface="Calibri"/>
                        </a:rPr>
                        <a:t>Relevance</a:t>
                      </a:r>
                    </a:p>
                  </a:txBody>
                  <a:tcPr anchor="ctr" marL="64008" marR="45720" marT="27432" marB="27432">
                    <a:solidFill>
                      <a:srgbClr val="0E7490"/>
                    </a:solidFill>
                  </a:tcPr>
                </a:tc>
              </a:tr>
              <a:tr h="877824">
                <a:tc>
                  <a:txBody>
                    <a:bodyPr wrap="square"/>
                    <a:lstStyle/>
                    <a:p>
                      <a:r>
                        <a:rPr sz="950" b="0">
                          <a:solidFill>
                            <a:srgbClr val="334155"/>
                          </a:solidFill>
                          <a:latin typeface="Calibri"/>
                        </a:rPr>
                        <a:t>1</a:t>
                      </a:r>
                    </a:p>
                  </a:txBody>
                  <a:tcPr anchor="ctr" marL="64008" marR="45720" marT="27432" marB="27432">
                    <a:solidFill>
                      <a:srgbClr val="FFFFFF"/>
                    </a:solidFill>
                  </a:tcPr>
                </a:tc>
                <a:tc>
                  <a:txBody>
                    <a:bodyPr wrap="square"/>
                    <a:lstStyle/>
                    <a:p>
                      <a:r>
                        <a:rPr sz="950" b="0">
                          <a:solidFill>
                            <a:srgbClr val="334155"/>
                          </a:solidFill>
                          <a:latin typeface="Calibri"/>
                        </a:rPr>
                        <a:t>Joloudari et al., 2019
Informatics in Medicine Unlocked</a:t>
                      </a:r>
                    </a:p>
                  </a:txBody>
                  <a:tcPr anchor="ctr" marL="64008" marR="45720" marT="27432" marB="27432">
                    <a:solidFill>
                      <a:srgbClr val="FFFFFF"/>
                    </a:solidFill>
                  </a:tcPr>
                </a:tc>
                <a:tc>
                  <a:txBody>
                    <a:bodyPr wrap="square"/>
                    <a:lstStyle/>
                    <a:p>
                      <a:r>
                        <a:rPr sz="950" b="0">
                          <a:solidFill>
                            <a:srgbClr val="334155"/>
                          </a:solidFill>
                          <a:latin typeface="Calibri"/>
                        </a:rPr>
                        <a:t>Accurate prediction with optimal feature subset; ELTA data-mining pipeline + PSO-optimized SVM, 10-fold CV on UCI liver data</a:t>
                      </a:r>
                    </a:p>
                  </a:txBody>
                  <a:tcPr anchor="ctr" marL="64008" marR="45720" marT="27432" marB="27432">
                    <a:solidFill>
                      <a:srgbClr val="FFFFFF"/>
                    </a:solidFill>
                  </a:tcPr>
                </a:tc>
                <a:tc>
                  <a:txBody>
                    <a:bodyPr wrap="square"/>
                    <a:lstStyle/>
                    <a:p>
                      <a:r>
                        <a:rPr sz="950" b="0">
                          <a:solidFill>
                            <a:srgbClr val="334155"/>
                          </a:solidFill>
                          <a:latin typeface="Calibri"/>
                        </a:rPr>
                        <a:t>PSO-SVM best of 5 models — 95.17% avg accuracy</a:t>
                      </a:r>
                    </a:p>
                  </a:txBody>
                  <a:tcPr anchor="ctr" marL="64008" marR="45720" marT="27432" marB="27432">
                    <a:solidFill>
                      <a:srgbClr val="FFFFFF"/>
                    </a:solidFill>
                  </a:tcPr>
                </a:tc>
                <a:tc>
                  <a:txBody>
                    <a:bodyPr wrap="square"/>
                    <a:lstStyle/>
                    <a:p>
                      <a:r>
                        <a:rPr sz="950" b="0">
                          <a:solidFill>
                            <a:srgbClr val="334155"/>
                          </a:solidFill>
                          <a:latin typeface="Calibri"/>
                        </a:rPr>
                        <a:t>Offline mining; heavy PSO tuning; no deployment or sensing</a:t>
                      </a:r>
                    </a:p>
                  </a:txBody>
                  <a:tcPr anchor="ctr" marL="64008" marR="45720" marT="27432" marB="27432">
                    <a:solidFill>
                      <a:srgbClr val="FFFFFF"/>
                    </a:solidFill>
                  </a:tcPr>
                </a:tc>
                <a:tc>
                  <a:txBody>
                    <a:bodyPr wrap="square"/>
                    <a:lstStyle/>
                    <a:p>
                      <a:r>
                        <a:rPr sz="950" b="0">
                          <a:solidFill>
                            <a:srgbClr val="334155"/>
                          </a:solidFill>
                          <a:latin typeface="Calibri"/>
                        </a:rPr>
                        <a:t>Baseline for tuned SVM; value of feature weighting</a:t>
                      </a:r>
                    </a:p>
                  </a:txBody>
                  <a:tcPr anchor="ctr" marL="64008" marR="45720" marT="27432" marB="27432">
                    <a:solidFill>
                      <a:srgbClr val="FFFFFF"/>
                    </a:solidFill>
                  </a:tcPr>
                </a:tc>
              </a:tr>
              <a:tr h="877824">
                <a:tc>
                  <a:txBody>
                    <a:bodyPr wrap="square"/>
                    <a:lstStyle/>
                    <a:p>
                      <a:r>
                        <a:rPr sz="950" b="0">
                          <a:solidFill>
                            <a:srgbClr val="334155"/>
                          </a:solidFill>
                          <a:latin typeface="Calibri"/>
                        </a:rPr>
                        <a:t>2</a:t>
                      </a:r>
                    </a:p>
                  </a:txBody>
                  <a:tcPr anchor="ctr" marL="64008" marR="45720" marT="27432" marB="27432">
                    <a:solidFill>
                      <a:srgbClr val="F8FAFC"/>
                    </a:solidFill>
                  </a:tcPr>
                </a:tc>
                <a:tc>
                  <a:txBody>
                    <a:bodyPr wrap="square"/>
                    <a:lstStyle/>
                    <a:p>
                      <a:r>
                        <a:rPr sz="950" b="0">
                          <a:solidFill>
                            <a:srgbClr val="334155"/>
                          </a:solidFill>
                          <a:latin typeface="Calibri"/>
                        </a:rPr>
                        <a:t>Singh, Bagga &amp; Kaur, 2020
Procedia Computer Science</a:t>
                      </a:r>
                    </a:p>
                  </a:txBody>
                  <a:tcPr anchor="ctr" marL="64008" marR="45720" marT="27432" marB="27432">
                    <a:solidFill>
                      <a:srgbClr val="F8FAFC"/>
                    </a:solidFill>
                  </a:tcPr>
                </a:tc>
                <a:tc>
                  <a:txBody>
                    <a:bodyPr wrap="square"/>
                    <a:lstStyle/>
                    <a:p>
                      <a:r>
                        <a:rPr sz="950" b="0">
                          <a:solidFill>
                            <a:srgbClr val="334155"/>
                          </a:solidFill>
                          <a:latin typeface="Calibri"/>
                        </a:rPr>
                        <a:t>Software tool for liver risk; 6 classifiers (LR, SMO, RF, NB, J48, k-NN) + feature selection on ILPD; built ILDPS desktop app</a:t>
                      </a:r>
                    </a:p>
                  </a:txBody>
                  <a:tcPr anchor="ctr" marL="64008" marR="45720" marT="27432" marB="27432">
                    <a:solidFill>
                      <a:srgbClr val="F8FAFC"/>
                    </a:solidFill>
                  </a:tcPr>
                </a:tc>
                <a:tc>
                  <a:txBody>
                    <a:bodyPr wrap="square"/>
                    <a:lstStyle/>
                    <a:p>
                      <a:r>
                        <a:rPr sz="950" b="0">
                          <a:solidFill>
                            <a:srgbClr val="334155"/>
                          </a:solidFill>
                          <a:latin typeface="Calibri"/>
                        </a:rPr>
                        <a:t>Random Forest best — 71.87% accuracy</a:t>
                      </a:r>
                    </a:p>
                  </a:txBody>
                  <a:tcPr anchor="ctr" marL="64008" marR="45720" marT="27432" marB="27432">
                    <a:solidFill>
                      <a:srgbClr val="F8FAFC"/>
                    </a:solidFill>
                  </a:tcPr>
                </a:tc>
                <a:tc>
                  <a:txBody>
                    <a:bodyPr wrap="square"/>
                    <a:lstStyle/>
                    <a:p>
                      <a:r>
                        <a:rPr sz="950" b="0">
                          <a:solidFill>
                            <a:srgbClr val="334155"/>
                          </a:solidFill>
                          <a:latin typeface="Calibri"/>
                        </a:rPr>
                        <a:t>Low accuracy; class imbalance ignored; desktop-only</a:t>
                      </a:r>
                    </a:p>
                  </a:txBody>
                  <a:tcPr anchor="ctr" marL="64008" marR="45720" marT="27432" marB="27432">
                    <a:solidFill>
                      <a:srgbClr val="F8FAFC"/>
                    </a:solidFill>
                  </a:tcPr>
                </a:tc>
                <a:tc>
                  <a:txBody>
                    <a:bodyPr wrap="square"/>
                    <a:lstStyle/>
                    <a:p>
                      <a:r>
                        <a:rPr sz="950" b="0">
                          <a:solidFill>
                            <a:srgbClr val="334155"/>
                          </a:solidFill>
                          <a:latin typeface="Calibri"/>
                        </a:rPr>
                        <a:t>Confirms ILPD is noisy → motivates our ensemble</a:t>
                      </a:r>
                    </a:p>
                  </a:txBody>
                  <a:tcPr anchor="ctr" marL="64008" marR="45720" marT="27432" marB="27432">
                    <a:solidFill>
                      <a:srgbClr val="F8FAFC"/>
                    </a:solidFill>
                  </a:tcPr>
                </a:tc>
              </a:tr>
              <a:tr h="877824">
                <a:tc>
                  <a:txBody>
                    <a:bodyPr wrap="square"/>
                    <a:lstStyle/>
                    <a:p>
                      <a:r>
                        <a:rPr sz="950" b="0">
                          <a:solidFill>
                            <a:srgbClr val="334155"/>
                          </a:solidFill>
                          <a:latin typeface="Calibri"/>
                        </a:rPr>
                        <a:t>3</a:t>
                      </a:r>
                    </a:p>
                  </a:txBody>
                  <a:tcPr anchor="ctr" marL="64008" marR="45720" marT="27432" marB="27432">
                    <a:solidFill>
                      <a:srgbClr val="FFFFFF"/>
                    </a:solidFill>
                  </a:tcPr>
                </a:tc>
                <a:tc>
                  <a:txBody>
                    <a:bodyPr wrap="square"/>
                    <a:lstStyle/>
                    <a:p>
                      <a:r>
                        <a:rPr sz="950" b="0">
                          <a:solidFill>
                            <a:srgbClr val="334155"/>
                          </a:solidFill>
                          <a:latin typeface="Calibri"/>
                        </a:rPr>
                        <a:t>Haque et al., 2018
IC4ME2 (IEEE)</a:t>
                      </a:r>
                    </a:p>
                  </a:txBody>
                  <a:tcPr anchor="ctr" marL="64008" marR="45720" marT="27432" marB="27432">
                    <a:solidFill>
                      <a:srgbClr val="FFFFFF"/>
                    </a:solidFill>
                  </a:tcPr>
                </a:tc>
                <a:tc>
                  <a:txBody>
                    <a:bodyPr wrap="square"/>
                    <a:lstStyle/>
                    <a:p>
                      <a:r>
                        <a:rPr sz="950" b="0">
                          <a:solidFill>
                            <a:srgbClr val="334155"/>
                          </a:solidFill>
                          <a:latin typeface="Calibri"/>
                        </a:rPr>
                        <a:t>Performance comparison of Random Forest vs Artificial Neural Network for liver disorder classification</a:t>
                      </a:r>
                    </a:p>
                  </a:txBody>
                  <a:tcPr anchor="ctr" marL="64008" marR="45720" marT="27432" marB="27432">
                    <a:solidFill>
                      <a:srgbClr val="FFFFFF"/>
                    </a:solidFill>
                  </a:tcPr>
                </a:tc>
                <a:tc>
                  <a:txBody>
                    <a:bodyPr wrap="square"/>
                    <a:lstStyle/>
                    <a:p>
                      <a:r>
                        <a:rPr sz="950" b="0">
                          <a:solidFill>
                            <a:srgbClr val="334155"/>
                          </a:solidFill>
                          <a:latin typeface="Calibri"/>
                        </a:rPr>
                        <a:t>RF competitive/superior; ANN limited by small data</a:t>
                      </a:r>
                    </a:p>
                  </a:txBody>
                  <a:tcPr anchor="ctr" marL="64008" marR="45720" marT="27432" marB="27432">
                    <a:solidFill>
                      <a:srgbClr val="FFFFFF"/>
                    </a:solidFill>
                  </a:tcPr>
                </a:tc>
                <a:tc>
                  <a:txBody>
                    <a:bodyPr wrap="square"/>
                    <a:lstStyle/>
                    <a:p>
                      <a:r>
                        <a:rPr sz="950" b="0">
                          <a:solidFill>
                            <a:srgbClr val="334155"/>
                          </a:solidFill>
                          <a:latin typeface="Calibri"/>
                        </a:rPr>
                        <a:t>Small dataset; limited metrics; no deployment</a:t>
                      </a:r>
                    </a:p>
                  </a:txBody>
                  <a:tcPr anchor="ctr" marL="64008" marR="45720" marT="27432" marB="27432">
                    <a:solidFill>
                      <a:srgbClr val="FFFFFF"/>
                    </a:solidFill>
                  </a:tcPr>
                </a:tc>
                <a:tc>
                  <a:txBody>
                    <a:bodyPr wrap="square"/>
                    <a:lstStyle/>
                    <a:p>
                      <a:r>
                        <a:rPr sz="950" b="0">
                          <a:solidFill>
                            <a:srgbClr val="334155"/>
                          </a:solidFill>
                          <a:latin typeface="Calibri"/>
                        </a:rPr>
                        <a:t>Justifies Random Forest as ensemble member</a:t>
                      </a:r>
                    </a:p>
                  </a:txBody>
                  <a:tcPr anchor="ctr" marL="64008" marR="45720" marT="27432" marB="27432">
                    <a:solidFill>
                      <a:srgbClr val="FFFFFF"/>
                    </a:solidFill>
                  </a:tcPr>
                </a:tc>
              </a:tr>
              <a:tr h="877824">
                <a:tc>
                  <a:txBody>
                    <a:bodyPr wrap="square"/>
                    <a:lstStyle/>
                    <a:p>
                      <a:r>
                        <a:rPr sz="950" b="0">
                          <a:solidFill>
                            <a:srgbClr val="334155"/>
                          </a:solidFill>
                          <a:latin typeface="Calibri"/>
                        </a:rPr>
                        <a:t>4</a:t>
                      </a:r>
                    </a:p>
                  </a:txBody>
                  <a:tcPr anchor="ctr" marL="64008" marR="45720" marT="27432" marB="27432">
                    <a:solidFill>
                      <a:srgbClr val="F8FAFC"/>
                    </a:solidFill>
                  </a:tcPr>
                </a:tc>
                <a:tc>
                  <a:txBody>
                    <a:bodyPr wrap="square"/>
                    <a:lstStyle/>
                    <a:p>
                      <a:r>
                        <a:rPr sz="950" b="0">
                          <a:solidFill>
                            <a:srgbClr val="334155"/>
                          </a:solidFill>
                          <a:latin typeface="Calibri"/>
                        </a:rPr>
                        <a:t>Tokala et al., 2023
IJACSA 14(2)</a:t>
                      </a:r>
                    </a:p>
                  </a:txBody>
                  <a:tcPr anchor="ctr" marL="64008" marR="45720" marT="27432" marB="27432">
                    <a:solidFill>
                      <a:srgbClr val="F8FAFC"/>
                    </a:solidFill>
                  </a:tcPr>
                </a:tc>
                <a:tc>
                  <a:txBody>
                    <a:bodyPr wrap="square"/>
                    <a:lstStyle/>
                    <a:p>
                      <a:r>
                        <a:rPr sz="950" b="0">
                          <a:solidFill>
                            <a:srgbClr val="334155"/>
                          </a:solidFill>
                          <a:latin typeface="Calibri"/>
                        </a:rPr>
                        <a:t>Reduce physician workload; LR, SVM, k-NN, RF on ILPD + correlation analysis of biomarkers</a:t>
                      </a:r>
                    </a:p>
                  </a:txBody>
                  <a:tcPr anchor="ctr" marL="64008" marR="45720" marT="27432" marB="27432">
                    <a:solidFill>
                      <a:srgbClr val="F8FAFC"/>
                    </a:solidFill>
                  </a:tcPr>
                </a:tc>
                <a:tc>
                  <a:txBody>
                    <a:bodyPr wrap="square"/>
                    <a:lstStyle/>
                    <a:p>
                      <a:r>
                        <a:rPr sz="950" b="0">
                          <a:solidFill>
                            <a:srgbClr val="334155"/>
                          </a:solidFill>
                          <a:latin typeface="Calibri"/>
                        </a:rPr>
                        <a:t>Random Forest best — 88%; bilirubin attributes highly correlated</a:t>
                      </a:r>
                    </a:p>
                  </a:txBody>
                  <a:tcPr anchor="ctr" marL="64008" marR="45720" marT="27432" marB="27432">
                    <a:solidFill>
                      <a:srgbClr val="F8FAFC"/>
                    </a:solidFill>
                  </a:tcPr>
                </a:tc>
                <a:tc>
                  <a:txBody>
                    <a:bodyPr wrap="square"/>
                    <a:lstStyle/>
                    <a:p>
                      <a:r>
                        <a:rPr sz="950" b="0">
                          <a:solidFill>
                            <a:srgbClr val="334155"/>
                          </a:solidFill>
                          <a:latin typeface="Calibri"/>
                        </a:rPr>
                        <a:t>Imbalance not handled; offline study</a:t>
                      </a:r>
                    </a:p>
                  </a:txBody>
                  <a:tcPr anchor="ctr" marL="64008" marR="45720" marT="27432" marB="27432">
                    <a:solidFill>
                      <a:srgbClr val="F8FAFC"/>
                    </a:solidFill>
                  </a:tcPr>
                </a:tc>
                <a:tc>
                  <a:txBody>
                    <a:bodyPr wrap="square"/>
                    <a:lstStyle/>
                    <a:p>
                      <a:r>
                        <a:rPr sz="950" b="0">
                          <a:solidFill>
                            <a:srgbClr val="334155"/>
                          </a:solidFill>
                          <a:latin typeface="Calibri"/>
                        </a:rPr>
                        <a:t>Confirms RF strength; supports our derived-ratio features</a:t>
                      </a:r>
                    </a:p>
                  </a:txBody>
                  <a:tcPr anchor="ctr" marL="64008" marR="45720" marT="27432" marB="27432">
                    <a:solidFill>
                      <a:srgbClr val="F8FAFC"/>
                    </a:solidFill>
                  </a:tcPr>
                </a:tc>
              </a:tr>
              <a:tr h="877824">
                <a:tc>
                  <a:txBody>
                    <a:bodyPr wrap="square"/>
                    <a:lstStyle/>
                    <a:p>
                      <a:r>
                        <a:rPr sz="950" b="0">
                          <a:solidFill>
                            <a:srgbClr val="334155"/>
                          </a:solidFill>
                          <a:latin typeface="Calibri"/>
                        </a:rPr>
                        <a:t>5</a:t>
                      </a:r>
                    </a:p>
                  </a:txBody>
                  <a:tcPr anchor="ctr" marL="64008" marR="45720" marT="27432" marB="27432">
                    <a:solidFill>
                      <a:srgbClr val="FFFFFF"/>
                    </a:solidFill>
                  </a:tcPr>
                </a:tc>
                <a:tc>
                  <a:txBody>
                    <a:bodyPr wrap="square"/>
                    <a:lstStyle/>
                    <a:p>
                      <a:r>
                        <a:rPr sz="950" b="0">
                          <a:solidFill>
                            <a:srgbClr val="334155"/>
                          </a:solidFill>
                          <a:latin typeface="Calibri"/>
                        </a:rPr>
                        <a:t>Ahad et al., 2024
Results in Engineering</a:t>
                      </a:r>
                    </a:p>
                  </a:txBody>
                  <a:tcPr anchor="ctr" marL="64008" marR="45720" marT="27432" marB="27432">
                    <a:solidFill>
                      <a:srgbClr val="FFFFFF"/>
                    </a:solidFill>
                  </a:tcPr>
                </a:tc>
                <a:tc>
                  <a:txBody>
                    <a:bodyPr wrap="square"/>
                    <a:lstStyle/>
                    <a:p>
                      <a:r>
                        <a:rPr sz="950" b="0">
                          <a:solidFill>
                            <a:srgbClr val="334155"/>
                          </a:solidFill>
                          <a:latin typeface="Calibri"/>
                        </a:rPr>
                        <a:t>Multiclass prediction; adaptive preprocessing + data balancing + ensembles (LR/XGB/RF) + clinician UI</a:t>
                      </a:r>
                    </a:p>
                  </a:txBody>
                  <a:tcPr anchor="ctr" marL="64008" marR="45720" marT="27432" marB="27432">
                    <a:solidFill>
                      <a:srgbClr val="FFFFFF"/>
                    </a:solidFill>
                  </a:tcPr>
                </a:tc>
                <a:tc>
                  <a:txBody>
                    <a:bodyPr wrap="square"/>
                    <a:lstStyle/>
                    <a:p>
                      <a:r>
                        <a:rPr sz="950" b="0">
                          <a:solidFill>
                            <a:srgbClr val="334155"/>
                          </a:solidFill>
                          <a:latin typeface="Calibri"/>
                        </a:rPr>
                        <a:t>Up to 99.8% accuracy with balancing</a:t>
                      </a:r>
                    </a:p>
                  </a:txBody>
                  <a:tcPr anchor="ctr" marL="64008" marR="45720" marT="27432" marB="27432">
                    <a:solidFill>
                      <a:srgbClr val="FFFFFF"/>
                    </a:solidFill>
                  </a:tcPr>
                </a:tc>
                <a:tc>
                  <a:txBody>
                    <a:bodyPr wrap="square"/>
                    <a:lstStyle/>
                    <a:p>
                      <a:r>
                        <a:rPr sz="950" b="0">
                          <a:solidFill>
                            <a:srgbClr val="334155"/>
                          </a:solidFill>
                          <a:latin typeface="Calibri"/>
                        </a:rPr>
                        <a:t>Very high values → overfitting risk; UI only, no sensors/IoT</a:t>
                      </a:r>
                    </a:p>
                  </a:txBody>
                  <a:tcPr anchor="ctr" marL="64008" marR="45720" marT="27432" marB="27432">
                    <a:solidFill>
                      <a:srgbClr val="FFFFFF"/>
                    </a:solidFill>
                  </a:tcPr>
                </a:tc>
                <a:tc>
                  <a:txBody>
                    <a:bodyPr wrap="square"/>
                    <a:lstStyle/>
                    <a:p>
                      <a:r>
                        <a:rPr sz="950" b="0">
                          <a:solidFill>
                            <a:srgbClr val="334155"/>
                          </a:solidFill>
                          <a:latin typeface="Calibri"/>
                        </a:rPr>
                        <a:t>Shows preprocessing power; real-time sensing still missing</a:t>
                      </a:r>
                    </a:p>
                  </a:txBody>
                  <a:tcPr anchor="ctr" marL="64008" marR="45720" marT="27432" marB="27432">
                    <a:solidFill>
                      <a:srgbClr val="FFFFFF"/>
                    </a:solidFill>
                  </a:tcPr>
                </a:tc>
              </a:tr>
            </a:tbl>
          </a:graphicData>
        </a:graphic>
      </p:graphicFrame>
      <p:sp>
        <p:nvSpPr>
          <p:cNvPr id="10" name="TextBox 9"/>
          <p:cNvSpPr txBox="1"/>
          <p:nvPr/>
        </p:nvSpPr>
        <p:spPr>
          <a:xfrm>
            <a:off x="521207" y="6217920"/>
            <a:ext cx="11155680" cy="228600"/>
          </a:xfrm>
          <a:prstGeom prst="rect">
            <a:avLst/>
          </a:prstGeom>
          <a:noFill/>
        </p:spPr>
        <p:txBody>
          <a:bodyPr wrap="square" anchor="t">
            <a:spAutoFit/>
          </a:bodyPr>
          <a:lstStyle/>
          <a:p>
            <a:pPr algn="l">
              <a:lnSpc>
                <a:spcPct val="100000"/>
              </a:lnSpc>
              <a:spcAft>
                <a:spcPts val="600"/>
              </a:spcAft>
            </a:pPr>
            <a:r>
              <a:rPr sz="950" b="0" i="1">
                <a:solidFill>
                  <a:srgbClr val="64748B"/>
                </a:solidFill>
                <a:latin typeface="Calibri"/>
              </a:rPr>
              <a:t>Each paper was studied in full — problem, technique and limitation summarized above; full citations on slide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LITERATURE REVIEW 2 / 2  (PAPERS 6–10)</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Literature Review</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6</a:t>
            </a:r>
          </a:p>
        </p:txBody>
      </p:sp>
      <p:graphicFrame>
        <p:nvGraphicFramePr>
          <p:cNvPr id="9" name="Table 8"/>
          <p:cNvGraphicFramePr>
            <a:graphicFrameLocks noGrp="1"/>
          </p:cNvGraphicFramePr>
          <p:nvPr/>
        </p:nvGraphicFramePr>
        <p:xfrm>
          <a:off x="521207" y="1444752"/>
          <a:ext cx="11155680" cy="4773168"/>
        </p:xfrm>
        <a:graphic>
          <a:graphicData uri="http://schemas.openxmlformats.org/drawingml/2006/table">
            <a:tbl>
              <a:tblPr>
                <a:tableStyleId>{5C22544A-7EE6-4342-B048-85BDC9FD1C3A}</a:tableStyleId>
              </a:tblPr>
              <a:tblGrid>
                <a:gridCol w="292608"/>
                <a:gridCol w="2240280"/>
                <a:gridCol w="3611880"/>
                <a:gridCol w="1783080"/>
                <a:gridCol w="1947672"/>
                <a:gridCol w="1280160"/>
              </a:tblGrid>
              <a:tr h="384048">
                <a:tc>
                  <a:txBody>
                    <a:bodyPr wrap="square"/>
                    <a:lstStyle/>
                    <a:p>
                      <a:r>
                        <a:rPr sz="1000" b="1">
                          <a:solidFill>
                            <a:srgbClr val="FFFFFF"/>
                          </a:solidFill>
                          <a:latin typeface="Calibri"/>
                        </a:rPr>
                        <a:t>#</a:t>
                      </a:r>
                    </a:p>
                  </a:txBody>
                  <a:tcPr anchor="ctr" marL="64008" marR="45720" marT="27432" marB="27432">
                    <a:solidFill>
                      <a:srgbClr val="0E7490"/>
                    </a:solidFill>
                  </a:tcPr>
                </a:tc>
                <a:tc>
                  <a:txBody>
                    <a:bodyPr wrap="square"/>
                    <a:lstStyle/>
                    <a:p>
                      <a:r>
                        <a:rPr sz="1000" b="1">
                          <a:solidFill>
                            <a:srgbClr val="FFFFFF"/>
                          </a:solidFill>
                          <a:latin typeface="Calibri"/>
                        </a:rPr>
                        <a:t>Paper (Authors, Venue)</a:t>
                      </a:r>
                    </a:p>
                  </a:txBody>
                  <a:tcPr anchor="ctr" marL="64008" marR="45720" marT="27432" marB="27432">
                    <a:solidFill>
                      <a:srgbClr val="0E7490"/>
                    </a:solidFill>
                  </a:tcPr>
                </a:tc>
                <a:tc>
                  <a:txBody>
                    <a:bodyPr wrap="square"/>
                    <a:lstStyle/>
                    <a:p>
                      <a:r>
                        <a:rPr sz="1000" b="1">
                          <a:solidFill>
                            <a:srgbClr val="FFFFFF"/>
                          </a:solidFill>
                          <a:latin typeface="Calibri"/>
                        </a:rPr>
                        <a:t>Problem &amp; Method</a:t>
                      </a:r>
                    </a:p>
                  </a:txBody>
                  <a:tcPr anchor="ctr" marL="64008" marR="45720" marT="27432" marB="27432">
                    <a:solidFill>
                      <a:srgbClr val="0E7490"/>
                    </a:solidFill>
                  </a:tcPr>
                </a:tc>
                <a:tc>
                  <a:txBody>
                    <a:bodyPr wrap="square"/>
                    <a:lstStyle/>
                    <a:p>
                      <a:r>
                        <a:rPr sz="1000" b="1">
                          <a:solidFill>
                            <a:srgbClr val="FFFFFF"/>
                          </a:solidFill>
                          <a:latin typeface="Calibri"/>
                        </a:rPr>
                        <a:t>Key Findings</a:t>
                      </a:r>
                    </a:p>
                  </a:txBody>
                  <a:tcPr anchor="ctr" marL="64008" marR="45720" marT="27432" marB="27432">
                    <a:solidFill>
                      <a:srgbClr val="0E7490"/>
                    </a:solidFill>
                  </a:tcPr>
                </a:tc>
                <a:tc>
                  <a:txBody>
                    <a:bodyPr wrap="square"/>
                    <a:lstStyle/>
                    <a:p>
                      <a:r>
                        <a:rPr sz="1000" b="1">
                          <a:solidFill>
                            <a:srgbClr val="FFFFFF"/>
                          </a:solidFill>
                          <a:latin typeface="Calibri"/>
                        </a:rPr>
                        <a:t>Limitation</a:t>
                      </a:r>
                    </a:p>
                  </a:txBody>
                  <a:tcPr anchor="ctr" marL="64008" marR="45720" marT="27432" marB="27432">
                    <a:solidFill>
                      <a:srgbClr val="0E7490"/>
                    </a:solidFill>
                  </a:tcPr>
                </a:tc>
                <a:tc>
                  <a:txBody>
                    <a:bodyPr wrap="square"/>
                    <a:lstStyle/>
                    <a:p>
                      <a:r>
                        <a:rPr sz="1000" b="1">
                          <a:solidFill>
                            <a:srgbClr val="FFFFFF"/>
                          </a:solidFill>
                          <a:latin typeface="Calibri"/>
                        </a:rPr>
                        <a:t>Relevance</a:t>
                      </a:r>
                    </a:p>
                  </a:txBody>
                  <a:tcPr anchor="ctr" marL="64008" marR="45720" marT="27432" marB="27432">
                    <a:solidFill>
                      <a:srgbClr val="0E7490"/>
                    </a:solidFill>
                  </a:tcPr>
                </a:tc>
              </a:tr>
              <a:tr h="877824">
                <a:tc>
                  <a:txBody>
                    <a:bodyPr wrap="square"/>
                    <a:lstStyle/>
                    <a:p>
                      <a:r>
                        <a:rPr sz="950" b="0">
                          <a:solidFill>
                            <a:srgbClr val="334155"/>
                          </a:solidFill>
                          <a:latin typeface="Calibri"/>
                        </a:rPr>
                        <a:t>6</a:t>
                      </a:r>
                    </a:p>
                  </a:txBody>
                  <a:tcPr anchor="ctr" marL="64008" marR="45720" marT="27432" marB="27432">
                    <a:solidFill>
                      <a:srgbClr val="FFFFFF"/>
                    </a:solidFill>
                  </a:tcPr>
                </a:tc>
                <a:tc>
                  <a:txBody>
                    <a:bodyPr wrap="square"/>
                    <a:lstStyle/>
                    <a:p>
                      <a:r>
                        <a:rPr sz="950" b="0">
                          <a:solidFill>
                            <a:srgbClr val="334155"/>
                          </a:solidFill>
                          <a:latin typeface="Calibri"/>
                        </a:rPr>
                        <a:t>El Atifi et al., 2025
PLOS ONE 20(8)</a:t>
                      </a:r>
                    </a:p>
                  </a:txBody>
                  <a:tcPr anchor="ctr" marL="64008" marR="45720" marT="27432" marB="27432">
                    <a:solidFill>
                      <a:srgbClr val="FFFFFF"/>
                    </a:solidFill>
                  </a:tcPr>
                </a:tc>
                <a:tc>
                  <a:txBody>
                    <a:bodyPr wrap="square"/>
                    <a:lstStyle/>
                    <a:p>
                      <a:r>
                        <a:rPr sz="950" b="0">
                          <a:solidFill>
                            <a:srgbClr val="334155"/>
                          </a:solidFill>
                          <a:latin typeface="Calibri"/>
                        </a:rPr>
                        <a:t>Optimize ensembles for healthcare; RF / AdaBoost / GB with GridSearchCV &amp; RandomizedSearchCV tuning</a:t>
                      </a:r>
                    </a:p>
                  </a:txBody>
                  <a:tcPr anchor="ctr" marL="64008" marR="45720" marT="27432" marB="27432">
                    <a:solidFill>
                      <a:srgbClr val="FFFFFF"/>
                    </a:solidFill>
                  </a:tcPr>
                </a:tc>
                <a:tc>
                  <a:txBody>
                    <a:bodyPr wrap="square"/>
                    <a:lstStyle/>
                    <a:p>
                      <a:r>
                        <a:rPr sz="950" b="0">
                          <a:solidFill>
                            <a:srgbClr val="334155"/>
                          </a:solidFill>
                          <a:latin typeface="Calibri"/>
                        </a:rPr>
                        <a:t>RF + GridSearch best — 85.17%, AUC 0.85</a:t>
                      </a:r>
                    </a:p>
                  </a:txBody>
                  <a:tcPr anchor="ctr" marL="64008" marR="45720" marT="27432" marB="27432">
                    <a:solidFill>
                      <a:srgbClr val="FFFFFF"/>
                    </a:solidFill>
                  </a:tcPr>
                </a:tc>
                <a:tc>
                  <a:txBody>
                    <a:bodyPr wrap="square"/>
                    <a:lstStyle/>
                    <a:p>
                      <a:r>
                        <a:rPr sz="950" b="0">
                          <a:solidFill>
                            <a:srgbClr val="334155"/>
                          </a:solidFill>
                          <a:latin typeface="Calibri"/>
                        </a:rPr>
                        <a:t>Offline benchmark; no deployment or explainability</a:t>
                      </a:r>
                    </a:p>
                  </a:txBody>
                  <a:tcPr anchor="ctr" marL="64008" marR="45720" marT="27432" marB="27432">
                    <a:solidFill>
                      <a:srgbClr val="FFFFFF"/>
                    </a:solidFill>
                  </a:tcPr>
                </a:tc>
                <a:tc>
                  <a:txBody>
                    <a:bodyPr wrap="square"/>
                    <a:lstStyle/>
                    <a:p>
                      <a:r>
                        <a:rPr sz="950" b="0">
                          <a:solidFill>
                            <a:srgbClr val="334155"/>
                          </a:solidFill>
                          <a:latin typeface="Calibri"/>
                        </a:rPr>
                        <a:t>Validates our hyperparameter-tuning strategy</a:t>
                      </a:r>
                    </a:p>
                  </a:txBody>
                  <a:tcPr anchor="ctr" marL="64008" marR="45720" marT="27432" marB="27432">
                    <a:solidFill>
                      <a:srgbClr val="FFFFFF"/>
                    </a:solidFill>
                  </a:tcPr>
                </a:tc>
              </a:tr>
              <a:tr h="877824">
                <a:tc>
                  <a:txBody>
                    <a:bodyPr wrap="square"/>
                    <a:lstStyle/>
                    <a:p>
                      <a:r>
                        <a:rPr sz="950" b="0">
                          <a:solidFill>
                            <a:srgbClr val="334155"/>
                          </a:solidFill>
                          <a:latin typeface="Calibri"/>
                        </a:rPr>
                        <a:t>7</a:t>
                      </a:r>
                    </a:p>
                  </a:txBody>
                  <a:tcPr anchor="ctr" marL="64008" marR="45720" marT="27432" marB="27432">
                    <a:solidFill>
                      <a:srgbClr val="F8FAFC"/>
                    </a:solidFill>
                  </a:tcPr>
                </a:tc>
                <a:tc>
                  <a:txBody>
                    <a:bodyPr wrap="square"/>
                    <a:lstStyle/>
                    <a:p>
                      <a:r>
                        <a:rPr sz="950" b="0">
                          <a:solidFill>
                            <a:srgbClr val="334155"/>
                          </a:solidFill>
                          <a:latin typeface="Calibri"/>
                        </a:rPr>
                        <a:t>ICDSA Proceedings, 2025
Springer</a:t>
                      </a:r>
                    </a:p>
                  </a:txBody>
                  <a:tcPr anchor="ctr" marL="64008" marR="45720" marT="27432" marB="27432">
                    <a:solidFill>
                      <a:srgbClr val="F8FAFC"/>
                    </a:solidFill>
                  </a:tcPr>
                </a:tc>
                <a:tc>
                  <a:txBody>
                    <a:bodyPr wrap="square"/>
                    <a:lstStyle/>
                    <a:p>
                      <a:r>
                        <a:rPr sz="950" b="0">
                          <a:solidFill>
                            <a:srgbClr val="334155"/>
                          </a:solidFill>
                          <a:latin typeface="Calibri"/>
                        </a:rPr>
                        <a:t>Early prediction (Indian context); 8 models incl. MLP, hard-voting + genetic-algorithm optimization</a:t>
                      </a:r>
                    </a:p>
                  </a:txBody>
                  <a:tcPr anchor="ctr" marL="64008" marR="45720" marT="27432" marB="27432">
                    <a:solidFill>
                      <a:srgbClr val="F8FAFC"/>
                    </a:solidFill>
                  </a:tcPr>
                </a:tc>
                <a:tc>
                  <a:txBody>
                    <a:bodyPr wrap="square"/>
                    <a:lstStyle/>
                    <a:p>
                      <a:r>
                        <a:rPr sz="950" b="0">
                          <a:solidFill>
                            <a:srgbClr val="334155"/>
                          </a:solidFill>
                          <a:latin typeface="Calibri"/>
                        </a:rPr>
                        <a:t>GA-optimized Random Forest best — 79%</a:t>
                      </a:r>
                    </a:p>
                  </a:txBody>
                  <a:tcPr anchor="ctr" marL="64008" marR="45720" marT="27432" marB="27432">
                    <a:solidFill>
                      <a:srgbClr val="F8FAFC"/>
                    </a:solidFill>
                  </a:tcPr>
                </a:tc>
                <a:tc>
                  <a:txBody>
                    <a:bodyPr wrap="square"/>
                    <a:lstStyle/>
                    <a:p>
                      <a:r>
                        <a:rPr sz="950" b="0">
                          <a:solidFill>
                            <a:srgbClr val="334155"/>
                          </a:solidFill>
                          <a:latin typeface="Calibri"/>
                        </a:rPr>
                        <a:t>Offline; single dataset; no hardware link</a:t>
                      </a:r>
                    </a:p>
                  </a:txBody>
                  <a:tcPr anchor="ctr" marL="64008" marR="45720" marT="27432" marB="27432">
                    <a:solidFill>
                      <a:srgbClr val="F8FAFC"/>
                    </a:solidFill>
                  </a:tcPr>
                </a:tc>
                <a:tc>
                  <a:txBody>
                    <a:bodyPr wrap="square"/>
                    <a:lstStyle/>
                    <a:p>
                      <a:r>
                        <a:rPr sz="950" b="0">
                          <a:solidFill>
                            <a:srgbClr val="334155"/>
                          </a:solidFill>
                          <a:latin typeface="Calibri"/>
                        </a:rPr>
                        <a:t>GA-tuning idea; motivation similar to ours</a:t>
                      </a:r>
                    </a:p>
                  </a:txBody>
                  <a:tcPr anchor="ctr" marL="64008" marR="45720" marT="27432" marB="27432">
                    <a:solidFill>
                      <a:srgbClr val="F8FAFC"/>
                    </a:solidFill>
                  </a:tcPr>
                </a:tc>
              </a:tr>
              <a:tr h="877824">
                <a:tc>
                  <a:txBody>
                    <a:bodyPr wrap="square"/>
                    <a:lstStyle/>
                    <a:p>
                      <a:r>
                        <a:rPr sz="950" b="0">
                          <a:solidFill>
                            <a:srgbClr val="334155"/>
                          </a:solidFill>
                          <a:latin typeface="Calibri"/>
                        </a:rPr>
                        <a:t>8</a:t>
                      </a:r>
                    </a:p>
                  </a:txBody>
                  <a:tcPr anchor="ctr" marL="64008" marR="45720" marT="27432" marB="27432">
                    <a:solidFill>
                      <a:srgbClr val="FFFFFF"/>
                    </a:solidFill>
                  </a:tcPr>
                </a:tc>
                <a:tc>
                  <a:txBody>
                    <a:bodyPr wrap="square"/>
                    <a:lstStyle/>
                    <a:p>
                      <a:r>
                        <a:rPr sz="950" b="0">
                          <a:solidFill>
                            <a:srgbClr val="334155"/>
                          </a:solidFill>
                          <a:latin typeface="Calibri"/>
                        </a:rPr>
                        <a:t>Uddin et al., 2026
Netw. Model. Anal. (Springer)</a:t>
                      </a:r>
                    </a:p>
                  </a:txBody>
                  <a:tcPr anchor="ctr" marL="64008" marR="45720" marT="27432" marB="27432">
                    <a:solidFill>
                      <a:srgbClr val="FFFFFF"/>
                    </a:solidFill>
                  </a:tcPr>
                </a:tc>
                <a:tc>
                  <a:txBody>
                    <a:bodyPr wrap="square"/>
                    <a:lstStyle/>
                    <a:p>
                      <a:r>
                        <a:rPr sz="950" b="0">
                          <a:solidFill>
                            <a:srgbClr val="334155"/>
                          </a:solidFill>
                          <a:latin typeface="Calibri"/>
                        </a:rPr>
                        <a:t>Early detection on real multi-hospital data (Bangladesh); 5 ML + 5 DL models, Wilcoxon test, sensitivity analysis</a:t>
                      </a:r>
                    </a:p>
                  </a:txBody>
                  <a:tcPr anchor="ctr" marL="64008" marR="45720" marT="27432" marB="27432">
                    <a:solidFill>
                      <a:srgbClr val="FFFFFF"/>
                    </a:solidFill>
                  </a:tcPr>
                </a:tc>
                <a:tc>
                  <a:txBody>
                    <a:bodyPr wrap="square"/>
                    <a:lstStyle/>
                    <a:p>
                      <a:r>
                        <a:rPr sz="950" b="0">
                          <a:solidFill>
                            <a:srgbClr val="334155"/>
                          </a:solidFill>
                          <a:latin typeface="Calibri"/>
                        </a:rPr>
                        <a:t>RF best — 80.6%; ALP most influential biomarker</a:t>
                      </a:r>
                    </a:p>
                  </a:txBody>
                  <a:tcPr anchor="ctr" marL="64008" marR="45720" marT="27432" marB="27432">
                    <a:solidFill>
                      <a:srgbClr val="FFFFFF"/>
                    </a:solidFill>
                  </a:tcPr>
                </a:tc>
                <a:tc>
                  <a:txBody>
                    <a:bodyPr wrap="square"/>
                    <a:lstStyle/>
                    <a:p>
                      <a:r>
                        <a:rPr sz="950" b="0">
                          <a:solidFill>
                            <a:srgbClr val="334155"/>
                          </a:solidFill>
                          <a:latin typeface="Calibri"/>
                        </a:rPr>
                        <a:t>Hospital records only; no point-of-care device</a:t>
                      </a:r>
                    </a:p>
                  </a:txBody>
                  <a:tcPr anchor="ctr" marL="64008" marR="45720" marT="27432" marB="27432">
                    <a:solidFill>
                      <a:srgbClr val="FFFFFF"/>
                    </a:solidFill>
                  </a:tcPr>
                </a:tc>
                <a:tc>
                  <a:txBody>
                    <a:bodyPr wrap="square"/>
                    <a:lstStyle/>
                    <a:p>
                      <a:r>
                        <a:rPr sz="950" b="0">
                          <a:solidFill>
                            <a:srgbClr val="334155"/>
                          </a:solidFill>
                          <a:latin typeface="Calibri"/>
                        </a:rPr>
                        <a:t>Biomarker importance backs our sensor selection</a:t>
                      </a:r>
                    </a:p>
                  </a:txBody>
                  <a:tcPr anchor="ctr" marL="64008" marR="45720" marT="27432" marB="27432">
                    <a:solidFill>
                      <a:srgbClr val="FFFFFF"/>
                    </a:solidFill>
                  </a:tcPr>
                </a:tc>
              </a:tr>
              <a:tr h="877824">
                <a:tc>
                  <a:txBody>
                    <a:bodyPr wrap="square"/>
                    <a:lstStyle/>
                    <a:p>
                      <a:r>
                        <a:rPr sz="950" b="0">
                          <a:solidFill>
                            <a:srgbClr val="334155"/>
                          </a:solidFill>
                          <a:latin typeface="Calibri"/>
                        </a:rPr>
                        <a:t>9</a:t>
                      </a:r>
                    </a:p>
                  </a:txBody>
                  <a:tcPr anchor="ctr" marL="64008" marR="45720" marT="27432" marB="27432">
                    <a:solidFill>
                      <a:srgbClr val="F8FAFC"/>
                    </a:solidFill>
                  </a:tcPr>
                </a:tc>
                <a:tc>
                  <a:txBody>
                    <a:bodyPr wrap="square"/>
                    <a:lstStyle/>
                    <a:p>
                      <a:r>
                        <a:rPr sz="950" b="0">
                          <a:solidFill>
                            <a:srgbClr val="334155"/>
                          </a:solidFill>
                          <a:latin typeface="Calibri"/>
                        </a:rPr>
                        <a:t>LivXAI-Net, 2025
Comput. Methods Programs Biomed.</a:t>
                      </a:r>
                    </a:p>
                  </a:txBody>
                  <a:tcPr anchor="ctr" marL="64008" marR="45720" marT="27432" marB="27432">
                    <a:solidFill>
                      <a:srgbClr val="F8FAFC"/>
                    </a:solidFill>
                  </a:tcPr>
                </a:tc>
                <a:tc>
                  <a:txBody>
                    <a:bodyPr wrap="square"/>
                    <a:lstStyle/>
                    <a:p>
                      <a:r>
                        <a:rPr sz="950" b="0">
                          <a:solidFill>
                            <a:srgbClr val="334155"/>
                          </a:solidFill>
                          <a:latin typeface="Calibri"/>
                        </a:rPr>
                        <a:t>Explainable AI + IoT monitoring; RF/XGB + SHAP/PFI with simulated wearable biosensors on Mayo PBC data</a:t>
                      </a:r>
                    </a:p>
                  </a:txBody>
                  <a:tcPr anchor="ctr" marL="64008" marR="45720" marT="27432" marB="27432">
                    <a:solidFill>
                      <a:srgbClr val="F8FAFC"/>
                    </a:solidFill>
                  </a:tcPr>
                </a:tc>
                <a:tc>
                  <a:txBody>
                    <a:bodyPr wrap="square"/>
                    <a:lstStyle/>
                    <a:p>
                      <a:r>
                        <a:rPr sz="950" b="0">
                          <a:solidFill>
                            <a:srgbClr val="334155"/>
                          </a:solidFill>
                          <a:latin typeface="Calibri"/>
                        </a:rPr>
                        <a:t>RF 84% / XGB 82% (20-fold CV)</a:t>
                      </a:r>
                    </a:p>
                  </a:txBody>
                  <a:tcPr anchor="ctr" marL="64008" marR="45720" marT="27432" marB="27432">
                    <a:solidFill>
                      <a:srgbClr val="F8FAFC"/>
                    </a:solidFill>
                  </a:tcPr>
                </a:tc>
                <a:tc>
                  <a:txBody>
                    <a:bodyPr wrap="square"/>
                    <a:lstStyle/>
                    <a:p>
                      <a:r>
                        <a:rPr sz="950" b="0">
                          <a:solidFill>
                            <a:srgbClr val="334155"/>
                          </a:solidFill>
                          <a:latin typeface="Calibri"/>
                        </a:rPr>
                        <a:t>Simulated sensor data only; no live hardware; PBC-specific</a:t>
                      </a:r>
                    </a:p>
                  </a:txBody>
                  <a:tcPr anchor="ctr" marL="64008" marR="45720" marT="27432" marB="27432">
                    <a:solidFill>
                      <a:srgbClr val="F8FAFC"/>
                    </a:solidFill>
                  </a:tcPr>
                </a:tc>
                <a:tc>
                  <a:txBody>
                    <a:bodyPr wrap="square"/>
                    <a:lstStyle/>
                    <a:p>
                      <a:r>
                        <a:rPr sz="950" b="0">
                          <a:solidFill>
                            <a:srgbClr val="334155"/>
                          </a:solidFill>
                          <a:latin typeface="Calibri"/>
                        </a:rPr>
                        <a:t>Closest work — still lacks real sensors &amp; low-cost node</a:t>
                      </a:r>
                    </a:p>
                  </a:txBody>
                  <a:tcPr anchor="ctr" marL="64008" marR="45720" marT="27432" marB="27432">
                    <a:solidFill>
                      <a:srgbClr val="F8FAFC"/>
                    </a:solidFill>
                  </a:tcPr>
                </a:tc>
              </a:tr>
              <a:tr h="877824">
                <a:tc>
                  <a:txBody>
                    <a:bodyPr wrap="square"/>
                    <a:lstStyle/>
                    <a:p>
                      <a:r>
                        <a:rPr sz="950" b="0">
                          <a:solidFill>
                            <a:srgbClr val="334155"/>
                          </a:solidFill>
                          <a:latin typeface="Calibri"/>
                        </a:rPr>
                        <a:t>10</a:t>
                      </a:r>
                    </a:p>
                  </a:txBody>
                  <a:tcPr anchor="ctr" marL="64008" marR="45720" marT="27432" marB="27432">
                    <a:solidFill>
                      <a:srgbClr val="FFFFFF"/>
                    </a:solidFill>
                  </a:tcPr>
                </a:tc>
                <a:tc>
                  <a:txBody>
                    <a:bodyPr wrap="square"/>
                    <a:lstStyle/>
                    <a:p>
                      <a:r>
                        <a:rPr sz="950" b="0">
                          <a:solidFill>
                            <a:srgbClr val="334155"/>
                          </a:solidFill>
                          <a:latin typeface="Calibri"/>
                        </a:rPr>
                        <a:t>Fatoni et al., 2025
Analytica 6(1)</a:t>
                      </a:r>
                    </a:p>
                  </a:txBody>
                  <a:tcPr anchor="ctr" marL="64008" marR="45720" marT="27432" marB="27432">
                    <a:solidFill>
                      <a:srgbClr val="FFFFFF"/>
                    </a:solidFill>
                  </a:tcPr>
                </a:tc>
                <a:tc>
                  <a:txBody>
                    <a:bodyPr wrap="square"/>
                    <a:lstStyle/>
                    <a:p>
                      <a:r>
                        <a:rPr sz="950" b="0">
                          <a:solidFill>
                            <a:srgbClr val="334155"/>
                          </a:solidFill>
                          <a:latin typeface="Calibri"/>
                        </a:rPr>
                        <a:t>Non-invasive neonatal jaundice monitoring; TCS34725 color sensor + ESP32-C3 wearable + Blynk app</a:t>
                      </a:r>
                    </a:p>
                  </a:txBody>
                  <a:tcPr anchor="ctr" marL="64008" marR="45720" marT="27432" marB="27432">
                    <a:solidFill>
                      <a:srgbClr val="FFFFFF"/>
                    </a:solidFill>
                  </a:tcPr>
                </a:tc>
                <a:tc>
                  <a:txBody>
                    <a:bodyPr wrap="square"/>
                    <a:lstStyle/>
                    <a:p>
                      <a:r>
                        <a:rPr sz="950" b="0">
                          <a:solidFill>
                            <a:srgbClr val="334155"/>
                          </a:solidFill>
                          <a:latin typeface="Calibri"/>
                        </a:rPr>
                        <a:t>Bilirubin estimates validated vs blood tests</a:t>
                      </a:r>
                    </a:p>
                  </a:txBody>
                  <a:tcPr anchor="ctr" marL="64008" marR="45720" marT="27432" marB="27432">
                    <a:solidFill>
                      <a:srgbClr val="FFFFFF"/>
                    </a:solidFill>
                  </a:tcPr>
                </a:tc>
                <a:tc>
                  <a:txBody>
                    <a:bodyPr wrap="square"/>
                    <a:lstStyle/>
                    <a:p>
                      <a:r>
                        <a:rPr sz="950" b="0">
                          <a:solidFill>
                            <a:srgbClr val="334155"/>
                          </a:solidFill>
                          <a:latin typeface="Calibri"/>
                        </a:rPr>
                        <a:t>Single biomarker; no disease-risk prediction model</a:t>
                      </a:r>
                    </a:p>
                  </a:txBody>
                  <a:tcPr anchor="ctr" marL="64008" marR="45720" marT="27432" marB="27432">
                    <a:solidFill>
                      <a:srgbClr val="FFFFFF"/>
                    </a:solidFill>
                  </a:tcPr>
                </a:tc>
                <a:tc>
                  <a:txBody>
                    <a:bodyPr wrap="square"/>
                    <a:lstStyle/>
                    <a:p>
                      <a:r>
                        <a:rPr sz="950" b="0">
                          <a:solidFill>
                            <a:srgbClr val="334155"/>
                          </a:solidFill>
                          <a:latin typeface="Calibri"/>
                        </a:rPr>
                        <a:t>Proves ESP32 + optical bilirubin sensing → our hardware path</a:t>
                      </a:r>
                    </a:p>
                  </a:txBody>
                  <a:tcPr anchor="ctr" marL="64008" marR="45720" marT="27432" marB="27432">
                    <a:solidFill>
                      <a:srgbClr val="FFFFFF"/>
                    </a:solidFill>
                  </a:tcPr>
                </a:tc>
              </a:tr>
            </a:tbl>
          </a:graphicData>
        </a:graphic>
      </p:graphicFrame>
      <p:sp>
        <p:nvSpPr>
          <p:cNvPr id="10" name="TextBox 9"/>
          <p:cNvSpPr txBox="1"/>
          <p:nvPr/>
        </p:nvSpPr>
        <p:spPr>
          <a:xfrm>
            <a:off x="521207" y="6217920"/>
            <a:ext cx="11155680" cy="228600"/>
          </a:xfrm>
          <a:prstGeom prst="rect">
            <a:avLst/>
          </a:prstGeom>
          <a:noFill/>
        </p:spPr>
        <p:txBody>
          <a:bodyPr wrap="square" anchor="t">
            <a:spAutoFit/>
          </a:bodyPr>
          <a:lstStyle/>
          <a:p>
            <a:pPr algn="l">
              <a:lnSpc>
                <a:spcPct val="100000"/>
              </a:lnSpc>
              <a:spcAft>
                <a:spcPts val="600"/>
              </a:spcAft>
            </a:pPr>
            <a:r>
              <a:rPr sz="950" b="0" i="1">
                <a:solidFill>
                  <a:srgbClr val="64748B"/>
                </a:solidFill>
                <a:latin typeface="Calibri"/>
              </a:rPr>
              <a:t>Each paper was studied in full — problem, technique and limitation summarized above; full citations on slide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GAP ANALYSIS</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Research Gap (derived from the literature)</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7</a:t>
            </a:r>
          </a:p>
        </p:txBody>
      </p:sp>
      <p:sp>
        <p:nvSpPr>
          <p:cNvPr id="9" name="Rounded Rectangle 8"/>
          <p:cNvSpPr/>
          <p:nvPr/>
        </p:nvSpPr>
        <p:spPr>
          <a:xfrm>
            <a:off x="521207" y="1536192"/>
            <a:ext cx="5413248" cy="16276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500"/>
              </a:spcAft>
            </a:pPr>
            <a:r>
              <a:rPr sz="1400" b="1" i="0">
                <a:solidFill>
                  <a:srgbClr val="155E75"/>
                </a:solidFill>
                <a:latin typeface="Calibri"/>
              </a:rPr>
              <a:t>G1 — No live sensor pipeline</a:t>
            </a:r>
          </a:p>
          <a:p>
            <a:pPr algn="l">
              <a:lnSpc>
                <a:spcPct val="100000"/>
              </a:lnSpc>
              <a:spcAft>
                <a:spcPts val="500"/>
              </a:spcAft>
            </a:pPr>
            <a:r>
              <a:rPr sz="1200" b="0" i="0">
                <a:solidFill>
                  <a:srgbClr val="334155"/>
                </a:solidFill>
                <a:latin typeface="Calibri"/>
              </a:rPr>
              <a:t>All ML studies run offline on stored CSVs. Even the closest IoT work (LivXAI-Net, 2025) simulates sensors with historical data — no real sensor → model pathway exists.</a:t>
            </a:r>
          </a:p>
        </p:txBody>
      </p:sp>
      <p:sp>
        <p:nvSpPr>
          <p:cNvPr id="10" name="Rounded Rectangle 9"/>
          <p:cNvSpPr/>
          <p:nvPr/>
        </p:nvSpPr>
        <p:spPr>
          <a:xfrm>
            <a:off x="6263640" y="1536192"/>
            <a:ext cx="5413248" cy="16276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500"/>
              </a:spcAft>
            </a:pPr>
            <a:r>
              <a:rPr sz="1400" b="1" i="0">
                <a:solidFill>
                  <a:srgbClr val="155E75"/>
                </a:solidFill>
                <a:latin typeface="Calibri"/>
              </a:rPr>
              <a:t>G2 — Single-biomarker IoT devices</a:t>
            </a:r>
          </a:p>
          <a:p>
            <a:pPr algn="l">
              <a:lnSpc>
                <a:spcPct val="100000"/>
              </a:lnSpc>
              <a:spcAft>
                <a:spcPts val="500"/>
              </a:spcAft>
            </a:pPr>
            <a:r>
              <a:rPr sz="1200" b="0" i="0">
                <a:solidFill>
                  <a:srgbClr val="334155"/>
                </a:solidFill>
                <a:latin typeface="Calibri"/>
              </a:rPr>
              <a:t>Existing hardware measures only bilirubin and never fuses a full LFT panel, so no device produces a multi-parameter disease risk score.</a:t>
            </a:r>
          </a:p>
        </p:txBody>
      </p:sp>
      <p:sp>
        <p:nvSpPr>
          <p:cNvPr id="11" name="Rounded Rectangle 10"/>
          <p:cNvSpPr/>
          <p:nvPr/>
        </p:nvSpPr>
        <p:spPr>
          <a:xfrm>
            <a:off x="521207" y="3310128"/>
            <a:ext cx="5413248" cy="16276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500"/>
              </a:spcAft>
            </a:pPr>
            <a:r>
              <a:rPr sz="1400" b="1" i="0">
                <a:solidFill>
                  <a:srgbClr val="155E75"/>
                </a:solidFill>
                <a:latin typeface="Calibri"/>
              </a:rPr>
              <a:t>G3 — Recall ignored; imbalance unhandled</a:t>
            </a:r>
          </a:p>
          <a:p>
            <a:pPr algn="l">
              <a:lnSpc>
                <a:spcPct val="100000"/>
              </a:lnSpc>
              <a:spcAft>
                <a:spcPts val="500"/>
              </a:spcAft>
            </a:pPr>
            <a:r>
              <a:rPr sz="1200" b="0" i="0">
                <a:solidFill>
                  <a:srgbClr val="334155"/>
                </a:solidFill>
                <a:latin typeface="Calibri"/>
              </a:rPr>
              <a:t>ILPD is 71%/29% imbalanced. Most studies optimize accuracy only and never report recall — exactly the metric a screening device cannot afford to lose.</a:t>
            </a:r>
          </a:p>
        </p:txBody>
      </p:sp>
      <p:sp>
        <p:nvSpPr>
          <p:cNvPr id="12" name="Rounded Rectangle 11"/>
          <p:cNvSpPr/>
          <p:nvPr/>
        </p:nvSpPr>
        <p:spPr>
          <a:xfrm>
            <a:off x="6263640" y="3310128"/>
            <a:ext cx="5413248" cy="1627632"/>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55448" rIns="155448" tIns="108813" bIns="108813" wrap="square"/>
          <a:lstStyle/>
          <a:p>
            <a:pPr algn="l">
              <a:lnSpc>
                <a:spcPct val="100000"/>
              </a:lnSpc>
              <a:spcAft>
                <a:spcPts val="500"/>
              </a:spcAft>
            </a:pPr>
            <a:r>
              <a:rPr sz="1400" b="1" i="0">
                <a:solidFill>
                  <a:srgbClr val="155E75"/>
                </a:solidFill>
                <a:latin typeface="Calibri"/>
              </a:rPr>
              <a:t>G4 — No device–cloud interface</a:t>
            </a:r>
          </a:p>
          <a:p>
            <a:pPr algn="l">
              <a:lnSpc>
                <a:spcPct val="100000"/>
              </a:lnSpc>
              <a:spcAft>
                <a:spcPts val="500"/>
              </a:spcAft>
            </a:pPr>
            <a:r>
              <a:rPr sz="1200" b="0" i="0">
                <a:solidFill>
                  <a:srgbClr val="334155"/>
                </a:solidFill>
                <a:latin typeface="Calibri"/>
              </a:rPr>
              <a:t>No published work exposes the liver-risk model as an API that a low-cost ESP32-class node can query with sensor JSON in real time.</a:t>
            </a:r>
          </a:p>
        </p:txBody>
      </p:sp>
      <p:sp>
        <p:nvSpPr>
          <p:cNvPr id="13" name="Rounded Rectangle 12"/>
          <p:cNvSpPr/>
          <p:nvPr/>
        </p:nvSpPr>
        <p:spPr>
          <a:xfrm>
            <a:off x="521207" y="5138928"/>
            <a:ext cx="11155680" cy="1143000"/>
          </a:xfrm>
          <a:prstGeom prst="roundRect">
            <a:avLst>
              <a:gd name="adj" fmla="val 6000"/>
            </a:avLst>
          </a:prstGeom>
          <a:solidFill>
            <a:srgbClr val="F0F9FA"/>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lstStyle/>
          <a:p>
            <a:pPr algn="l">
              <a:lnSpc>
                <a:spcPct val="100000"/>
              </a:lnSpc>
              <a:spcAft>
                <a:spcPts val="500"/>
              </a:spcAft>
            </a:pPr>
            <a:r>
              <a:rPr sz="1300" b="1" i="0">
                <a:solidFill>
                  <a:srgbClr val="0E7490"/>
                </a:solidFill>
                <a:latin typeface="Calibri"/>
              </a:rPr>
              <a:t>Statement of the gap</a:t>
            </a:r>
          </a:p>
          <a:p>
            <a:pPr algn="l">
              <a:lnSpc>
                <a:spcPct val="100000"/>
              </a:lnSpc>
              <a:spcAft>
                <a:spcPts val="500"/>
              </a:spcAft>
            </a:pPr>
            <a:r>
              <a:rPr sz="1450" b="1" i="0">
                <a:solidFill>
                  <a:srgbClr val="0F172A"/>
                </a:solidFill>
                <a:latin typeface="Calibri"/>
              </a:rPr>
              <a:t>No existing system performs end-to-end, sensor-driven liver-risk screening — i.e., acquiring the full set of LFT biomarkers with IoT-compatible sensors and scoring them in real time with a recall-optimized ensemble model exposed as a device-ready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OBJECTIVES</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Project Objectives</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8</a:t>
            </a:r>
          </a:p>
        </p:txBody>
      </p:sp>
      <p:sp>
        <p:nvSpPr>
          <p:cNvPr id="9" name="Rounded Rectangle 8"/>
          <p:cNvSpPr/>
          <p:nvPr/>
        </p:nvSpPr>
        <p:spPr>
          <a:xfrm>
            <a:off x="521207" y="1572768"/>
            <a:ext cx="777240" cy="713232"/>
          </a:xfrm>
          <a:prstGeom prst="roundRect">
            <a:avLst>
              <a:gd name="adj" fmla="val 12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lnSpc>
                <a:spcPct val="100000"/>
              </a:lnSpc>
              <a:spcAft>
                <a:spcPts val="600"/>
              </a:spcAft>
            </a:pPr>
            <a:r>
              <a:rPr sz="1900" b="1" i="0">
                <a:solidFill>
                  <a:srgbClr val="FFFFFF"/>
                </a:solidFill>
                <a:latin typeface="Calibri"/>
              </a:rPr>
              <a:t>O1</a:t>
            </a:r>
          </a:p>
        </p:txBody>
      </p:sp>
      <p:sp>
        <p:nvSpPr>
          <p:cNvPr id="10" name="Rounded Rectangle 9"/>
          <p:cNvSpPr/>
          <p:nvPr/>
        </p:nvSpPr>
        <p:spPr>
          <a:xfrm>
            <a:off x="1463040" y="1572768"/>
            <a:ext cx="8778240" cy="713232"/>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350" b="0" i="0">
                <a:solidFill>
                  <a:srgbClr val="334155"/>
                </a:solidFill>
                <a:latin typeface="Calibri"/>
              </a:rPr>
              <a:t>Map all 10 ILPD parameters to IoT-compatible sensor modules and design the sensing/acquisition architecture.</a:t>
            </a:r>
          </a:p>
        </p:txBody>
      </p:sp>
      <p:sp>
        <p:nvSpPr>
          <p:cNvPr id="11" name="Rounded Rectangle 10"/>
          <p:cNvSpPr/>
          <p:nvPr/>
        </p:nvSpPr>
        <p:spPr>
          <a:xfrm>
            <a:off x="10378440" y="1572768"/>
            <a:ext cx="1298448" cy="713232"/>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38404" bIns="38404" wrap="square"/>
          <a:lstStyle/>
          <a:p>
            <a:pPr algn="ctr">
              <a:lnSpc>
                <a:spcPct val="100000"/>
              </a:lnSpc>
              <a:spcAft>
                <a:spcPts val="600"/>
              </a:spcAft>
            </a:pPr>
            <a:r>
              <a:rPr sz="950" b="1" i="0">
                <a:solidFill>
                  <a:srgbClr val="155E75"/>
                </a:solidFill>
                <a:latin typeface="Calibri"/>
              </a:rPr>
              <a:t>addresses G2, G4</a:t>
            </a:r>
          </a:p>
        </p:txBody>
      </p:sp>
      <p:sp>
        <p:nvSpPr>
          <p:cNvPr id="12" name="Rounded Rectangle 11"/>
          <p:cNvSpPr/>
          <p:nvPr/>
        </p:nvSpPr>
        <p:spPr>
          <a:xfrm>
            <a:off x="521207" y="2450591"/>
            <a:ext cx="777240" cy="713232"/>
          </a:xfrm>
          <a:prstGeom prst="roundRect">
            <a:avLst>
              <a:gd name="adj" fmla="val 12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lnSpc>
                <a:spcPct val="100000"/>
              </a:lnSpc>
              <a:spcAft>
                <a:spcPts val="600"/>
              </a:spcAft>
            </a:pPr>
            <a:r>
              <a:rPr sz="1900" b="1" i="0">
                <a:solidFill>
                  <a:srgbClr val="FFFFFF"/>
                </a:solidFill>
                <a:latin typeface="Calibri"/>
              </a:rPr>
              <a:t>O2</a:t>
            </a:r>
          </a:p>
        </p:txBody>
      </p:sp>
      <p:sp>
        <p:nvSpPr>
          <p:cNvPr id="13" name="Rounded Rectangle 12"/>
          <p:cNvSpPr/>
          <p:nvPr/>
        </p:nvSpPr>
        <p:spPr>
          <a:xfrm>
            <a:off x="1463040" y="2450591"/>
            <a:ext cx="8778240" cy="713232"/>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350" b="0" i="0">
                <a:solidFill>
                  <a:srgbClr val="334155"/>
                </a:solidFill>
                <a:latin typeface="Calibri"/>
              </a:rPr>
              <a:t>Develop a recall-optimized ensemble classifier on the ILPD dataset — target ≥ 72% accuracy with ≥ 90% recall.</a:t>
            </a:r>
          </a:p>
        </p:txBody>
      </p:sp>
      <p:sp>
        <p:nvSpPr>
          <p:cNvPr id="14" name="Rounded Rectangle 13"/>
          <p:cNvSpPr/>
          <p:nvPr/>
        </p:nvSpPr>
        <p:spPr>
          <a:xfrm>
            <a:off x="10378440" y="2450591"/>
            <a:ext cx="1298448" cy="713232"/>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38404" bIns="38404" wrap="square"/>
          <a:lstStyle/>
          <a:p>
            <a:pPr algn="ctr">
              <a:lnSpc>
                <a:spcPct val="100000"/>
              </a:lnSpc>
              <a:spcAft>
                <a:spcPts val="600"/>
              </a:spcAft>
            </a:pPr>
            <a:r>
              <a:rPr sz="950" b="1" i="0">
                <a:solidFill>
                  <a:srgbClr val="155E75"/>
                </a:solidFill>
                <a:latin typeface="Calibri"/>
              </a:rPr>
              <a:t>addresses G3</a:t>
            </a:r>
          </a:p>
        </p:txBody>
      </p:sp>
      <p:sp>
        <p:nvSpPr>
          <p:cNvPr id="15" name="Rounded Rectangle 14"/>
          <p:cNvSpPr/>
          <p:nvPr/>
        </p:nvSpPr>
        <p:spPr>
          <a:xfrm>
            <a:off x="521207" y="3328415"/>
            <a:ext cx="777240" cy="713232"/>
          </a:xfrm>
          <a:prstGeom prst="roundRect">
            <a:avLst>
              <a:gd name="adj" fmla="val 12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lnSpc>
                <a:spcPct val="100000"/>
              </a:lnSpc>
              <a:spcAft>
                <a:spcPts val="600"/>
              </a:spcAft>
            </a:pPr>
            <a:r>
              <a:rPr sz="1900" b="1" i="0">
                <a:solidFill>
                  <a:srgbClr val="FFFFFF"/>
                </a:solidFill>
                <a:latin typeface="Calibri"/>
              </a:rPr>
              <a:t>O3</a:t>
            </a:r>
          </a:p>
        </p:txBody>
      </p:sp>
      <p:sp>
        <p:nvSpPr>
          <p:cNvPr id="16" name="Rounded Rectangle 15"/>
          <p:cNvSpPr/>
          <p:nvPr/>
        </p:nvSpPr>
        <p:spPr>
          <a:xfrm>
            <a:off x="1463040" y="3328415"/>
            <a:ext cx="8778240" cy="713232"/>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350" b="0" i="0">
                <a:solidFill>
                  <a:srgbClr val="334155"/>
                </a:solidFill>
                <a:latin typeface="Calibri"/>
              </a:rPr>
              <a:t>Deploy the model as a real-time REST API + web dashboard that sensor nodes can query instantly.</a:t>
            </a:r>
          </a:p>
        </p:txBody>
      </p:sp>
      <p:sp>
        <p:nvSpPr>
          <p:cNvPr id="17" name="Rounded Rectangle 16"/>
          <p:cNvSpPr/>
          <p:nvPr/>
        </p:nvSpPr>
        <p:spPr>
          <a:xfrm>
            <a:off x="10378440" y="3328415"/>
            <a:ext cx="1298448" cy="713232"/>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38404" bIns="38404" wrap="square"/>
          <a:lstStyle/>
          <a:p>
            <a:pPr algn="ctr">
              <a:lnSpc>
                <a:spcPct val="100000"/>
              </a:lnSpc>
              <a:spcAft>
                <a:spcPts val="600"/>
              </a:spcAft>
            </a:pPr>
            <a:r>
              <a:rPr sz="950" b="1" i="0">
                <a:solidFill>
                  <a:srgbClr val="155E75"/>
                </a:solidFill>
                <a:latin typeface="Calibri"/>
              </a:rPr>
              <a:t>addresses G1, G4</a:t>
            </a:r>
          </a:p>
        </p:txBody>
      </p:sp>
      <p:sp>
        <p:nvSpPr>
          <p:cNvPr id="18" name="Rounded Rectangle 17"/>
          <p:cNvSpPr/>
          <p:nvPr/>
        </p:nvSpPr>
        <p:spPr>
          <a:xfrm>
            <a:off x="521207" y="4206240"/>
            <a:ext cx="777240" cy="713232"/>
          </a:xfrm>
          <a:prstGeom prst="roundRect">
            <a:avLst>
              <a:gd name="adj" fmla="val 12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lnSpc>
                <a:spcPct val="100000"/>
              </a:lnSpc>
              <a:spcAft>
                <a:spcPts val="600"/>
              </a:spcAft>
            </a:pPr>
            <a:r>
              <a:rPr sz="1900" b="1" i="0">
                <a:solidFill>
                  <a:srgbClr val="FFFFFF"/>
                </a:solidFill>
                <a:latin typeface="Calibri"/>
              </a:rPr>
              <a:t>O4</a:t>
            </a:r>
          </a:p>
        </p:txBody>
      </p:sp>
      <p:sp>
        <p:nvSpPr>
          <p:cNvPr id="19" name="Rounded Rectangle 18"/>
          <p:cNvSpPr/>
          <p:nvPr/>
        </p:nvSpPr>
        <p:spPr>
          <a:xfrm>
            <a:off x="1463040" y="4206240"/>
            <a:ext cx="8778240" cy="713232"/>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350" b="0" i="0">
                <a:solidFill>
                  <a:srgbClr val="334155"/>
                </a:solidFill>
                <a:latin typeface="Calibri"/>
              </a:rPr>
              <a:t>Benchmark the ensemble against single-model baselines (LR, SVM, RF, GB, XGB, k-NN) on 5 metrics: accuracy, precision, recall, F1, AUC.</a:t>
            </a:r>
          </a:p>
        </p:txBody>
      </p:sp>
      <p:sp>
        <p:nvSpPr>
          <p:cNvPr id="20" name="Rounded Rectangle 19"/>
          <p:cNvSpPr/>
          <p:nvPr/>
        </p:nvSpPr>
        <p:spPr>
          <a:xfrm>
            <a:off x="10378440" y="4206240"/>
            <a:ext cx="1298448" cy="713232"/>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38404" bIns="38404" wrap="square"/>
          <a:lstStyle/>
          <a:p>
            <a:pPr algn="ctr">
              <a:lnSpc>
                <a:spcPct val="100000"/>
              </a:lnSpc>
              <a:spcAft>
                <a:spcPts val="600"/>
              </a:spcAft>
            </a:pPr>
            <a:r>
              <a:rPr sz="950" b="1" i="0">
                <a:solidFill>
                  <a:srgbClr val="155E75"/>
                </a:solidFill>
                <a:latin typeface="Calibri"/>
              </a:rPr>
              <a:t>addresses G3</a:t>
            </a:r>
          </a:p>
        </p:txBody>
      </p:sp>
      <p:sp>
        <p:nvSpPr>
          <p:cNvPr id="21" name="Rounded Rectangle 20"/>
          <p:cNvSpPr/>
          <p:nvPr/>
        </p:nvSpPr>
        <p:spPr>
          <a:xfrm>
            <a:off x="521207" y="5084064"/>
            <a:ext cx="777240" cy="713232"/>
          </a:xfrm>
          <a:prstGeom prst="roundRect">
            <a:avLst>
              <a:gd name="adj" fmla="val 12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2003" bIns="32003" wrap="square"/>
          <a:lstStyle/>
          <a:p>
            <a:pPr algn="ctr">
              <a:lnSpc>
                <a:spcPct val="100000"/>
              </a:lnSpc>
              <a:spcAft>
                <a:spcPts val="600"/>
              </a:spcAft>
            </a:pPr>
            <a:r>
              <a:rPr sz="1900" b="1" i="0">
                <a:solidFill>
                  <a:srgbClr val="FFFFFF"/>
                </a:solidFill>
                <a:latin typeface="Calibri"/>
              </a:rPr>
              <a:t>O5</a:t>
            </a:r>
          </a:p>
        </p:txBody>
      </p:sp>
      <p:sp>
        <p:nvSpPr>
          <p:cNvPr id="22" name="Rounded Rectangle 21"/>
          <p:cNvSpPr/>
          <p:nvPr/>
        </p:nvSpPr>
        <p:spPr>
          <a:xfrm>
            <a:off x="1463040" y="5084064"/>
            <a:ext cx="8778240" cy="713232"/>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350" b="0" i="0">
                <a:solidFill>
                  <a:srgbClr val="334155"/>
                </a:solidFill>
                <a:latin typeface="Calibri"/>
              </a:rPr>
              <a:t>Validate the pipeline with an ESP32 prototype node using an optical bilirubin sensor.</a:t>
            </a:r>
          </a:p>
        </p:txBody>
      </p:sp>
      <p:sp>
        <p:nvSpPr>
          <p:cNvPr id="23" name="Rounded Rectangle 22"/>
          <p:cNvSpPr/>
          <p:nvPr/>
        </p:nvSpPr>
        <p:spPr>
          <a:xfrm>
            <a:off x="10378440" y="5084064"/>
            <a:ext cx="1298448" cy="713232"/>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38404" bIns="38404" wrap="square"/>
          <a:lstStyle/>
          <a:p>
            <a:pPr algn="ctr">
              <a:lnSpc>
                <a:spcPct val="100000"/>
              </a:lnSpc>
              <a:spcAft>
                <a:spcPts val="600"/>
              </a:spcAft>
            </a:pPr>
            <a:r>
              <a:rPr sz="950" b="1" i="0">
                <a:solidFill>
                  <a:srgbClr val="155E75"/>
                </a:solidFill>
                <a:latin typeface="Calibri"/>
              </a:rPr>
              <a:t>addresses G1</a:t>
            </a:r>
          </a:p>
        </p:txBody>
      </p:sp>
      <p:sp>
        <p:nvSpPr>
          <p:cNvPr id="24" name="Rectangle 23"/>
          <p:cNvSpPr/>
          <p:nvPr/>
        </p:nvSpPr>
        <p:spPr>
          <a:xfrm>
            <a:off x="521207" y="5943600"/>
            <a:ext cx="111556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89611" bIns="89611" wrap="square"/>
          <a:lstStyle/>
          <a:p>
            <a:pPr algn="l">
              <a:lnSpc>
                <a:spcPct val="100000"/>
              </a:lnSpc>
              <a:spcAft>
                <a:spcPts val="600"/>
              </a:spcAft>
            </a:pPr>
            <a:r>
              <a:rPr sz="1150" b="0" i="1">
                <a:solidFill>
                  <a:srgbClr val="64748B"/>
                </a:solidFill>
                <a:latin typeface="Calibri"/>
              </a:rPr>
              <a:t>Each objective is specific, measurable and directly traces back to a gap identified in the literature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METHODOLOGY</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Proposed System Architecture</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9</a:t>
            </a:r>
          </a:p>
        </p:txBody>
      </p:sp>
      <p:sp>
        <p:nvSpPr>
          <p:cNvPr id="9" name="Rounded Rectangle 8"/>
          <p:cNvSpPr/>
          <p:nvPr/>
        </p:nvSpPr>
        <p:spPr>
          <a:xfrm>
            <a:off x="457200" y="1627632"/>
            <a:ext cx="1975104" cy="2487168"/>
          </a:xfrm>
          <a:prstGeom prst="roundRect">
            <a:avLst>
              <a:gd name="adj" fmla="val 7000"/>
            </a:avLst>
          </a:prstGeom>
          <a:solidFill>
            <a:srgbClr val="F0F9FA"/>
          </a:solidFill>
          <a:ln w="1651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0"/>
          <a:lstStyle/>
          <a:p>
            <a:pPr algn="ctr">
              <a:spcAft>
                <a:spcPts val="700"/>
              </a:spcAft>
            </a:pPr>
            <a:r>
              <a:rPr sz="1150" b="1">
                <a:solidFill>
                  <a:srgbClr val="155E75"/>
                </a:solidFill>
                <a:latin typeface="Calibri"/>
              </a:rPr>
              <a:t>1 · BIOSENSOR ARRAY</a:t>
            </a:r>
          </a:p>
          <a:p>
            <a:pPr algn="ctr">
              <a:spcAft>
                <a:spcPts val="300"/>
              </a:spcAft>
            </a:pPr>
            <a:r>
              <a:rPr sz="1000">
                <a:solidFill>
                  <a:srgbClr val="334155"/>
                </a:solidFill>
                <a:latin typeface="Calibri"/>
              </a:rPr>
              <a:t>Optical bilirubin sensor</a:t>
            </a:r>
          </a:p>
          <a:p>
            <a:pPr algn="ctr">
              <a:spcAft>
                <a:spcPts val="300"/>
              </a:spcAft>
            </a:pPr>
            <a:r>
              <a:rPr sz="1000">
                <a:solidFill>
                  <a:srgbClr val="334155"/>
                </a:solidFill>
                <a:latin typeface="Calibri"/>
              </a:rPr>
              <a:t>ALT/AST/ALP enzyme</a:t>
            </a:r>
          </a:p>
          <a:p>
            <a:pPr algn="ctr">
              <a:spcAft>
                <a:spcPts val="300"/>
              </a:spcAft>
            </a:pPr>
            <a:r>
              <a:rPr sz="1000">
                <a:solidFill>
                  <a:srgbClr val="334155"/>
                </a:solidFill>
                <a:latin typeface="Calibri"/>
              </a:rPr>
              <a:t>electrodes · protein/</a:t>
            </a:r>
          </a:p>
          <a:p>
            <a:pPr algn="ctr">
              <a:spcAft>
                <a:spcPts val="300"/>
              </a:spcAft>
            </a:pPr>
            <a:r>
              <a:rPr sz="1000">
                <a:solidFill>
                  <a:srgbClr val="334155"/>
                </a:solidFill>
                <a:latin typeface="Calibri"/>
              </a:rPr>
              <a:t>albumin sensing</a:t>
            </a:r>
          </a:p>
        </p:txBody>
      </p:sp>
      <p:sp>
        <p:nvSpPr>
          <p:cNvPr id="10" name="Right Arrow 9"/>
          <p:cNvSpPr/>
          <p:nvPr/>
        </p:nvSpPr>
        <p:spPr>
          <a:xfrm>
            <a:off x="2468880" y="2752344"/>
            <a:ext cx="310896" cy="237744"/>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16352" y="1627632"/>
            <a:ext cx="1975104" cy="2487168"/>
          </a:xfrm>
          <a:prstGeom prst="roundRect">
            <a:avLst>
              <a:gd name="adj" fmla="val 7000"/>
            </a:avLst>
          </a:prstGeom>
          <a:solidFill>
            <a:srgbClr val="FFFFFF"/>
          </a:solidFill>
          <a:ln w="1651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0"/>
          <a:lstStyle/>
          <a:p>
            <a:pPr algn="ctr">
              <a:spcAft>
                <a:spcPts val="700"/>
              </a:spcAft>
            </a:pPr>
            <a:r>
              <a:rPr sz="1150" b="1">
                <a:solidFill>
                  <a:srgbClr val="155E75"/>
                </a:solidFill>
                <a:latin typeface="Calibri"/>
              </a:rPr>
              <a:t>2 · SIGNAL CONDITIONING</a:t>
            </a:r>
          </a:p>
          <a:p>
            <a:pPr algn="ctr">
              <a:spcAft>
                <a:spcPts val="300"/>
              </a:spcAft>
            </a:pPr>
            <a:r>
              <a:rPr sz="1000">
                <a:solidFill>
                  <a:srgbClr val="334155"/>
                </a:solidFill>
                <a:latin typeface="Calibri"/>
              </a:rPr>
              <a:t>Amplification &amp;</a:t>
            </a:r>
          </a:p>
          <a:p>
            <a:pPr algn="ctr">
              <a:spcAft>
                <a:spcPts val="300"/>
              </a:spcAft>
            </a:pPr>
            <a:r>
              <a:rPr sz="1000">
                <a:solidFill>
                  <a:srgbClr val="334155"/>
                </a:solidFill>
                <a:latin typeface="Calibri"/>
              </a:rPr>
              <a:t>filtering · 12-bit ADC</a:t>
            </a:r>
          </a:p>
          <a:p>
            <a:pPr algn="ctr">
              <a:spcAft>
                <a:spcPts val="300"/>
              </a:spcAft>
            </a:pPr>
            <a:r>
              <a:rPr sz="1000">
                <a:solidFill>
                  <a:srgbClr val="334155"/>
                </a:solidFill>
                <a:latin typeface="Calibri"/>
              </a:rPr>
              <a:t>calibration lookup</a:t>
            </a:r>
          </a:p>
        </p:txBody>
      </p:sp>
      <p:sp>
        <p:nvSpPr>
          <p:cNvPr id="12" name="Right Arrow 11"/>
          <p:cNvSpPr/>
          <p:nvPr/>
        </p:nvSpPr>
        <p:spPr>
          <a:xfrm>
            <a:off x="4828032" y="2752344"/>
            <a:ext cx="310896" cy="237744"/>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75504" y="1627632"/>
            <a:ext cx="1975104" cy="2487168"/>
          </a:xfrm>
          <a:prstGeom prst="roundRect">
            <a:avLst>
              <a:gd name="adj" fmla="val 7000"/>
            </a:avLst>
          </a:prstGeom>
          <a:solidFill>
            <a:srgbClr val="F0F9FA"/>
          </a:solidFill>
          <a:ln w="1651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0"/>
          <a:lstStyle/>
          <a:p>
            <a:pPr algn="ctr">
              <a:spcAft>
                <a:spcPts val="700"/>
              </a:spcAft>
            </a:pPr>
            <a:r>
              <a:rPr sz="1150" b="1">
                <a:solidFill>
                  <a:srgbClr val="155E75"/>
                </a:solidFill>
                <a:latin typeface="Calibri"/>
              </a:rPr>
              <a:t>3 · ESP32 EDGE NODE</a:t>
            </a:r>
          </a:p>
          <a:p>
            <a:pPr algn="ctr">
              <a:spcAft>
                <a:spcPts val="300"/>
              </a:spcAft>
            </a:pPr>
            <a:r>
              <a:rPr sz="1000">
                <a:solidFill>
                  <a:srgbClr val="334155"/>
                </a:solidFill>
                <a:latin typeface="Calibri"/>
              </a:rPr>
              <a:t>Compute A/G ratio,</a:t>
            </a:r>
          </a:p>
          <a:p>
            <a:pPr algn="ctr">
              <a:spcAft>
                <a:spcPts val="300"/>
              </a:spcAft>
            </a:pPr>
            <a:r>
              <a:rPr sz="1000">
                <a:solidFill>
                  <a:srgbClr val="334155"/>
                </a:solidFill>
                <a:latin typeface="Calibri"/>
              </a:rPr>
              <a:t>AST/ALT ratio ·</a:t>
            </a:r>
          </a:p>
          <a:p>
            <a:pPr algn="ctr">
              <a:spcAft>
                <a:spcPts val="300"/>
              </a:spcAft>
            </a:pPr>
            <a:r>
              <a:rPr sz="1000">
                <a:solidFill>
                  <a:srgbClr val="334155"/>
                </a:solidFill>
                <a:latin typeface="Calibri"/>
              </a:rPr>
              <a:t>pack sensor JSON</a:t>
            </a:r>
          </a:p>
        </p:txBody>
      </p:sp>
      <p:sp>
        <p:nvSpPr>
          <p:cNvPr id="14" name="Right Arrow 13"/>
          <p:cNvSpPr/>
          <p:nvPr/>
        </p:nvSpPr>
        <p:spPr>
          <a:xfrm>
            <a:off x="7187184" y="2752344"/>
            <a:ext cx="310896" cy="237744"/>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34656" y="1627632"/>
            <a:ext cx="1975104" cy="2487168"/>
          </a:xfrm>
          <a:prstGeom prst="roundRect">
            <a:avLst>
              <a:gd name="adj" fmla="val 7000"/>
            </a:avLst>
          </a:prstGeom>
          <a:solidFill>
            <a:srgbClr val="FFFFFF"/>
          </a:solidFill>
          <a:ln w="1651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0"/>
          <a:lstStyle/>
          <a:p>
            <a:pPr algn="ctr">
              <a:spcAft>
                <a:spcPts val="700"/>
              </a:spcAft>
            </a:pPr>
            <a:r>
              <a:rPr sz="1150" b="1">
                <a:solidFill>
                  <a:srgbClr val="155E75"/>
                </a:solidFill>
                <a:latin typeface="Calibri"/>
              </a:rPr>
              <a:t>4 · CLOUD ML SERVER</a:t>
            </a:r>
          </a:p>
          <a:p>
            <a:pPr algn="ctr">
              <a:spcAft>
                <a:spcPts val="300"/>
              </a:spcAft>
            </a:pPr>
            <a:r>
              <a:rPr sz="1000">
                <a:solidFill>
                  <a:srgbClr val="334155"/>
                </a:solidFill>
                <a:latin typeface="Calibri"/>
              </a:rPr>
              <a:t>Flask REST API ·</a:t>
            </a:r>
          </a:p>
          <a:p>
            <a:pPr algn="ctr">
              <a:spcAft>
                <a:spcPts val="300"/>
              </a:spcAft>
            </a:pPr>
            <a:r>
              <a:rPr sz="1000">
                <a:solidFill>
                  <a:srgbClr val="334155"/>
                </a:solidFill>
                <a:latin typeface="Calibri"/>
              </a:rPr>
              <a:t>preprocessing ·</a:t>
            </a:r>
          </a:p>
          <a:p>
            <a:pPr algn="ctr">
              <a:spcAft>
                <a:spcPts val="300"/>
              </a:spcAft>
            </a:pPr>
            <a:r>
              <a:rPr sz="1000">
                <a:solidFill>
                  <a:srgbClr val="334155"/>
                </a:solidFill>
                <a:latin typeface="Calibri"/>
              </a:rPr>
              <a:t>ensemble model</a:t>
            </a:r>
          </a:p>
        </p:txBody>
      </p:sp>
      <p:sp>
        <p:nvSpPr>
          <p:cNvPr id="16" name="Right Arrow 15"/>
          <p:cNvSpPr/>
          <p:nvPr/>
        </p:nvSpPr>
        <p:spPr>
          <a:xfrm>
            <a:off x="9546336" y="2752344"/>
            <a:ext cx="310896" cy="237744"/>
          </a:xfrm>
          <a:prstGeom prst="rightArrow">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93808" y="1627632"/>
            <a:ext cx="1975104" cy="2487168"/>
          </a:xfrm>
          <a:prstGeom prst="roundRect">
            <a:avLst>
              <a:gd name="adj" fmla="val 7000"/>
            </a:avLst>
          </a:prstGeom>
          <a:solidFill>
            <a:srgbClr val="F0F9FA"/>
          </a:solidFill>
          <a:ln w="1651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0"/>
          <a:lstStyle/>
          <a:p>
            <a:pPr algn="ctr">
              <a:spcAft>
                <a:spcPts val="700"/>
              </a:spcAft>
            </a:pPr>
            <a:r>
              <a:rPr sz="1150" b="1">
                <a:solidFill>
                  <a:srgbClr val="155E75"/>
                </a:solidFill>
                <a:latin typeface="Calibri"/>
              </a:rPr>
              <a:t>5 · OUTPUT</a:t>
            </a:r>
          </a:p>
          <a:p>
            <a:pPr algn="ctr">
              <a:spcAft>
                <a:spcPts val="300"/>
              </a:spcAft>
            </a:pPr>
            <a:r>
              <a:rPr sz="1000">
                <a:solidFill>
                  <a:srgbClr val="334155"/>
                </a:solidFill>
                <a:latin typeface="Calibri"/>
              </a:rPr>
              <a:t>Risk % + level ·</a:t>
            </a:r>
          </a:p>
          <a:p>
            <a:pPr algn="ctr">
              <a:spcAft>
                <a:spcPts val="300"/>
              </a:spcAft>
            </a:pPr>
            <a:r>
              <a:rPr sz="1000">
                <a:solidFill>
                  <a:srgbClr val="334155"/>
                </a:solidFill>
                <a:latin typeface="Calibri"/>
              </a:rPr>
              <a:t>dashboard · LED/</a:t>
            </a:r>
          </a:p>
          <a:p>
            <a:pPr algn="ctr">
              <a:spcAft>
                <a:spcPts val="300"/>
              </a:spcAft>
            </a:pPr>
            <a:r>
              <a:rPr sz="1000">
                <a:solidFill>
                  <a:srgbClr val="334155"/>
                </a:solidFill>
                <a:latin typeface="Calibri"/>
              </a:rPr>
              <a:t>buzzer alert</a:t>
            </a:r>
          </a:p>
        </p:txBody>
      </p:sp>
      <p:sp>
        <p:nvSpPr>
          <p:cNvPr id="18" name="TextBox 17"/>
          <p:cNvSpPr txBox="1"/>
          <p:nvPr/>
        </p:nvSpPr>
        <p:spPr>
          <a:xfrm>
            <a:off x="457200" y="4224528"/>
            <a:ext cx="11247120" cy="274320"/>
          </a:xfrm>
          <a:prstGeom prst="rect">
            <a:avLst/>
          </a:prstGeom>
          <a:noFill/>
        </p:spPr>
        <p:txBody>
          <a:bodyPr wrap="square" anchor="t">
            <a:spAutoFit/>
          </a:bodyPr>
          <a:lstStyle/>
          <a:p>
            <a:pPr algn="ctr">
              <a:lnSpc>
                <a:spcPct val="100000"/>
              </a:lnSpc>
              <a:spcAft>
                <a:spcPts val="600"/>
              </a:spcAft>
            </a:pPr>
            <a:r>
              <a:rPr sz="1150" b="0" i="1">
                <a:solidFill>
                  <a:srgbClr val="64748B"/>
                </a:solidFill>
                <a:latin typeface="Calibri"/>
              </a:rPr>
              <a:t>Input  →  Processing  →  Model  →  Output        (data flows left→right; risk level flows back to the device)</a:t>
            </a:r>
          </a:p>
        </p:txBody>
      </p:sp>
      <p:sp>
        <p:nvSpPr>
          <p:cNvPr id="19" name="Rounded Rectangle 18"/>
          <p:cNvSpPr/>
          <p:nvPr/>
        </p:nvSpPr>
        <p:spPr>
          <a:xfrm>
            <a:off x="521207" y="4617720"/>
            <a:ext cx="2715768" cy="1481328"/>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lnSpc>
                <a:spcPct val="100000"/>
              </a:lnSpc>
              <a:spcAft>
                <a:spcPts val="400"/>
              </a:spcAft>
            </a:pPr>
            <a:r>
              <a:rPr sz="1100" b="1" i="0">
                <a:solidFill>
                  <a:srgbClr val="155E75"/>
                </a:solidFill>
                <a:latin typeface="Calibri"/>
              </a:rPr>
              <a:t>DATASET</a:t>
            </a:r>
          </a:p>
          <a:p>
            <a:pPr algn="l">
              <a:lnSpc>
                <a:spcPct val="100000"/>
              </a:lnSpc>
              <a:spcAft>
                <a:spcPts val="400"/>
              </a:spcAft>
            </a:pPr>
            <a:r>
              <a:rPr sz="1050" b="0" i="0">
                <a:solidFill>
                  <a:srgbClr val="334155"/>
                </a:solidFill>
                <a:latin typeface="Calibri"/>
              </a:rPr>
              <a:t>ILPD — 583 records (416 patients / 167 healthy), 10 features; Kaggle / UCI #225</a:t>
            </a:r>
          </a:p>
        </p:txBody>
      </p:sp>
      <p:sp>
        <p:nvSpPr>
          <p:cNvPr id="20" name="Rounded Rectangle 19"/>
          <p:cNvSpPr/>
          <p:nvPr/>
        </p:nvSpPr>
        <p:spPr>
          <a:xfrm>
            <a:off x="3337560" y="4617720"/>
            <a:ext cx="2715768" cy="1481328"/>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lnSpc>
                <a:spcPct val="100000"/>
              </a:lnSpc>
              <a:spcAft>
                <a:spcPts val="400"/>
              </a:spcAft>
            </a:pPr>
            <a:r>
              <a:rPr sz="1100" b="1" i="0">
                <a:solidFill>
                  <a:srgbClr val="155E75"/>
                </a:solidFill>
                <a:latin typeface="Calibri"/>
              </a:rPr>
              <a:t>ALGORITHMS</a:t>
            </a:r>
          </a:p>
          <a:p>
            <a:pPr algn="l">
              <a:lnSpc>
                <a:spcPct val="100000"/>
              </a:lnSpc>
              <a:spcAft>
                <a:spcPts val="400"/>
              </a:spcAft>
            </a:pPr>
            <a:r>
              <a:rPr sz="1050" b="0" i="0">
                <a:solidFill>
                  <a:srgbClr val="334155"/>
                </a:solidFill>
                <a:latin typeface="Calibri"/>
              </a:rPr>
              <a:t>Ensemble: XGBoost + Gradient Boosting + Random Forest + SVM (soft voting)</a:t>
            </a:r>
          </a:p>
        </p:txBody>
      </p:sp>
      <p:sp>
        <p:nvSpPr>
          <p:cNvPr id="21" name="Rounded Rectangle 20"/>
          <p:cNvSpPr/>
          <p:nvPr/>
        </p:nvSpPr>
        <p:spPr>
          <a:xfrm>
            <a:off x="6153912" y="4617720"/>
            <a:ext cx="2715768" cy="1481328"/>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lnSpc>
                <a:spcPct val="100000"/>
              </a:lnSpc>
              <a:spcAft>
                <a:spcPts val="400"/>
              </a:spcAft>
            </a:pPr>
            <a:r>
              <a:rPr sz="1100" b="1" i="0">
                <a:solidFill>
                  <a:srgbClr val="155E75"/>
                </a:solidFill>
                <a:latin typeface="Calibri"/>
              </a:rPr>
              <a:t>SOFTWARE</a:t>
            </a:r>
          </a:p>
          <a:p>
            <a:pPr algn="l">
              <a:lnSpc>
                <a:spcPct val="100000"/>
              </a:lnSpc>
              <a:spcAft>
                <a:spcPts val="400"/>
              </a:spcAft>
            </a:pPr>
            <a:r>
              <a:rPr sz="1050" b="0" i="0">
                <a:solidFill>
                  <a:srgbClr val="334155"/>
                </a:solidFill>
                <a:latin typeface="Calibri"/>
              </a:rPr>
              <a:t>Python · scikit-learn · XGBoost · Flask REST API · joblib</a:t>
            </a:r>
          </a:p>
        </p:txBody>
      </p:sp>
      <p:sp>
        <p:nvSpPr>
          <p:cNvPr id="22" name="Rounded Rectangle 21"/>
          <p:cNvSpPr/>
          <p:nvPr/>
        </p:nvSpPr>
        <p:spPr>
          <a:xfrm>
            <a:off x="8970264" y="4617720"/>
            <a:ext cx="2715768" cy="1481328"/>
          </a:xfrm>
          <a:prstGeom prst="roundRect">
            <a:avLst>
              <a:gd name="adj" fmla="val 8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6012" bIns="96012" wrap="square"/>
          <a:lstStyle/>
          <a:p>
            <a:pPr algn="l">
              <a:lnSpc>
                <a:spcPct val="100000"/>
              </a:lnSpc>
              <a:spcAft>
                <a:spcPts val="400"/>
              </a:spcAft>
            </a:pPr>
            <a:r>
              <a:rPr sz="1100" b="1" i="0">
                <a:solidFill>
                  <a:srgbClr val="155E75"/>
                </a:solidFill>
                <a:latin typeface="Calibri"/>
              </a:rPr>
              <a:t>HARDWARE</a:t>
            </a:r>
          </a:p>
          <a:p>
            <a:pPr algn="l">
              <a:lnSpc>
                <a:spcPct val="100000"/>
              </a:lnSpc>
              <a:spcAft>
                <a:spcPts val="400"/>
              </a:spcAft>
            </a:pPr>
            <a:r>
              <a:rPr sz="1050" b="0" i="0">
                <a:solidFill>
                  <a:srgbClr val="334155"/>
                </a:solidFill>
                <a:latin typeface="Calibri"/>
              </a:rPr>
              <a:t>ESP32 (Wi-Fi) · optical &amp; electrochemical sensor modules · OLED/LED alerts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PROPOSED WORK</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How the Proposed System Closes the Gap</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10</a:t>
            </a:r>
          </a:p>
        </p:txBody>
      </p:sp>
      <p:graphicFrame>
        <p:nvGraphicFramePr>
          <p:cNvPr id="9" name="Table 8"/>
          <p:cNvGraphicFramePr>
            <a:graphicFrameLocks noGrp="1"/>
          </p:cNvGraphicFramePr>
          <p:nvPr/>
        </p:nvGraphicFramePr>
        <p:xfrm>
          <a:off x="521207" y="1517904"/>
          <a:ext cx="11155680" cy="4133088"/>
        </p:xfrm>
        <a:graphic>
          <a:graphicData uri="http://schemas.openxmlformats.org/drawingml/2006/table">
            <a:tbl>
              <a:tblPr>
                <a:tableStyleId>{5C22544A-7EE6-4342-B048-85BDC9FD1C3A}</a:tableStyleId>
              </a:tblPr>
              <a:tblGrid>
                <a:gridCol w="2011680"/>
                <a:gridCol w="4343400"/>
                <a:gridCol w="4800600"/>
              </a:tblGrid>
              <a:tr h="384048">
                <a:tc>
                  <a:txBody>
                    <a:bodyPr wrap="square"/>
                    <a:lstStyle/>
                    <a:p>
                      <a:r>
                        <a:rPr sz="1150" b="1">
                          <a:solidFill>
                            <a:srgbClr val="FFFFFF"/>
                          </a:solidFill>
                          <a:latin typeface="Calibri"/>
                        </a:rPr>
                        <a:t>Aspect</a:t>
                      </a:r>
                    </a:p>
                  </a:txBody>
                  <a:tcPr anchor="ctr" marL="64008" marR="45720" marT="27432" marB="27432">
                    <a:solidFill>
                      <a:srgbClr val="0E7490"/>
                    </a:solidFill>
                  </a:tcPr>
                </a:tc>
                <a:tc>
                  <a:txBody>
                    <a:bodyPr wrap="square"/>
                    <a:lstStyle/>
                    <a:p>
                      <a:r>
                        <a:rPr sz="1150" b="1">
                          <a:solidFill>
                            <a:srgbClr val="FFFFFF"/>
                          </a:solidFill>
                          <a:latin typeface="Calibri"/>
                        </a:rPr>
                        <a:t>Existing approaches (from literature)</a:t>
                      </a:r>
                    </a:p>
                  </a:txBody>
                  <a:tcPr anchor="ctr" marL="64008" marR="45720" marT="27432" marB="27432">
                    <a:solidFill>
                      <a:srgbClr val="0E7490"/>
                    </a:solidFill>
                  </a:tcPr>
                </a:tc>
                <a:tc>
                  <a:txBody>
                    <a:bodyPr wrap="square"/>
                    <a:lstStyle/>
                    <a:p>
                      <a:r>
                        <a:rPr sz="1150" b="1">
                          <a:solidFill>
                            <a:srgbClr val="FFFFFF"/>
                          </a:solidFill>
                          <a:latin typeface="Calibri"/>
                        </a:rPr>
                        <a:t>Proposed approach (this project)</a:t>
                      </a:r>
                    </a:p>
                  </a:txBody>
                  <a:tcPr anchor="ctr" marL="64008" marR="45720" marT="27432" marB="27432">
                    <a:solidFill>
                      <a:srgbClr val="0E7490"/>
                    </a:solidFill>
                  </a:tcPr>
                </a:tc>
              </a:tr>
              <a:tr h="749808">
                <a:tc>
                  <a:txBody>
                    <a:bodyPr wrap="square"/>
                    <a:lstStyle/>
                    <a:p>
                      <a:r>
                        <a:rPr sz="1100" b="1">
                          <a:solidFill>
                            <a:srgbClr val="0F172A"/>
                          </a:solidFill>
                          <a:latin typeface="Calibri"/>
                        </a:rPr>
                        <a:t>Data input</a:t>
                      </a:r>
                    </a:p>
                  </a:txBody>
                  <a:tcPr anchor="ctr" marL="64008" marR="45720" marT="27432" marB="27432">
                    <a:solidFill>
                      <a:srgbClr val="FFFFFF"/>
                    </a:solidFill>
                  </a:tcPr>
                </a:tc>
                <a:tc>
                  <a:txBody>
                    <a:bodyPr wrap="square"/>
                    <a:lstStyle/>
                    <a:p>
                      <a:r>
                        <a:rPr sz="1100" b="0">
                          <a:solidFill>
                            <a:srgbClr val="334155"/>
                          </a:solidFill>
                          <a:latin typeface="Calibri"/>
                        </a:rPr>
                        <a:t>Stored CSV records; simulated sensors; single biomarker devices</a:t>
                      </a:r>
                    </a:p>
                  </a:txBody>
                  <a:tcPr anchor="ctr" marL="64008" marR="45720" marT="27432" marB="27432">
                    <a:solidFill>
                      <a:srgbClr val="FFFFFF"/>
                    </a:solidFill>
                  </a:tcPr>
                </a:tc>
                <a:tc>
                  <a:txBody>
                    <a:bodyPr wrap="square"/>
                    <a:lstStyle/>
                    <a:p>
                      <a:r>
                        <a:rPr sz="1100" b="0">
                          <a:solidFill>
                            <a:srgbClr val="334155"/>
                          </a:solidFill>
                          <a:latin typeface="Calibri"/>
                        </a:rPr>
                        <a:t>Sensor-mapped acquisition of all 10 LFT parameters (optical + electrochemical + impedance)</a:t>
                      </a:r>
                    </a:p>
                  </a:txBody>
                  <a:tcPr anchor="ctr" marL="64008" marR="45720" marT="27432" marB="27432">
                    <a:solidFill>
                      <a:srgbClr val="FFFFFF"/>
                    </a:solidFill>
                  </a:tcPr>
                </a:tc>
              </a:tr>
              <a:tr h="749808">
                <a:tc>
                  <a:txBody>
                    <a:bodyPr wrap="square"/>
                    <a:lstStyle/>
                    <a:p>
                      <a:r>
                        <a:rPr sz="1100" b="1">
                          <a:solidFill>
                            <a:srgbClr val="0F172A"/>
                          </a:solidFill>
                          <a:latin typeface="Calibri"/>
                        </a:rPr>
                        <a:t>Model</a:t>
                      </a:r>
                    </a:p>
                  </a:txBody>
                  <a:tcPr anchor="ctr" marL="64008" marR="45720" marT="27432" marB="27432">
                    <a:solidFill>
                      <a:srgbClr val="F8FAFC"/>
                    </a:solidFill>
                  </a:tcPr>
                </a:tc>
                <a:tc>
                  <a:txBody>
                    <a:bodyPr wrap="square"/>
                    <a:lstStyle/>
                    <a:p>
                      <a:r>
                        <a:rPr sz="1100" b="0">
                          <a:solidFill>
                            <a:srgbClr val="334155"/>
                          </a:solidFill>
                          <a:latin typeface="Calibri"/>
                        </a:rPr>
                        <a:t>Single classifiers (RF/SVM/DT) or untuned ensembles</a:t>
                      </a:r>
                    </a:p>
                  </a:txBody>
                  <a:tcPr anchor="ctr" marL="64008" marR="45720" marT="27432" marB="27432">
                    <a:solidFill>
                      <a:srgbClr val="F8FAFC"/>
                    </a:solidFill>
                  </a:tcPr>
                </a:tc>
                <a:tc>
                  <a:txBody>
                    <a:bodyPr wrap="square"/>
                    <a:lstStyle/>
                    <a:p>
                      <a:r>
                        <a:rPr sz="1100" b="0">
                          <a:solidFill>
                            <a:srgbClr val="334155"/>
                          </a:solidFill>
                          <a:latin typeface="Calibri"/>
                        </a:rPr>
                        <a:t>Soft-voting ensemble (XGBoost + GB + RF + SVM) with GridSearch-tuned XGBoost and engineered ratios</a:t>
                      </a:r>
                    </a:p>
                  </a:txBody>
                  <a:tcPr anchor="ctr" marL="64008" marR="45720" marT="27432" marB="27432">
                    <a:solidFill>
                      <a:srgbClr val="F8FAFC"/>
                    </a:solidFill>
                  </a:tcPr>
                </a:tc>
              </a:tr>
              <a:tr h="749808">
                <a:tc>
                  <a:txBody>
                    <a:bodyPr wrap="square"/>
                    <a:lstStyle/>
                    <a:p>
                      <a:r>
                        <a:rPr sz="1100" b="1">
                          <a:solidFill>
                            <a:srgbClr val="0F172A"/>
                          </a:solidFill>
                          <a:latin typeface="Calibri"/>
                        </a:rPr>
                        <a:t>Imbalance &amp; metrics</a:t>
                      </a:r>
                    </a:p>
                  </a:txBody>
                  <a:tcPr anchor="ctr" marL="64008" marR="45720" marT="27432" marB="27432">
                    <a:solidFill>
                      <a:srgbClr val="FFFFFF"/>
                    </a:solidFill>
                  </a:tcPr>
                </a:tc>
                <a:tc>
                  <a:txBody>
                    <a:bodyPr wrap="square"/>
                    <a:lstStyle/>
                    <a:p>
                      <a:r>
                        <a:rPr sz="1100" b="0">
                          <a:solidFill>
                            <a:srgbClr val="334155"/>
                          </a:solidFill>
                          <a:latin typeface="Calibri"/>
                        </a:rPr>
                        <a:t>Accuracy-only evaluation; imbalance mostly ignored</a:t>
                      </a:r>
                    </a:p>
                  </a:txBody>
                  <a:tcPr anchor="ctr" marL="64008" marR="45720" marT="27432" marB="27432">
                    <a:solidFill>
                      <a:srgbClr val="FFFFFF"/>
                    </a:solidFill>
                  </a:tcPr>
                </a:tc>
                <a:tc>
                  <a:txBody>
                    <a:bodyPr wrap="square"/>
                    <a:lstStyle/>
                    <a:p>
                      <a:r>
                        <a:rPr sz="1100" b="0">
                          <a:solidFill>
                            <a:srgbClr val="334155"/>
                          </a:solidFill>
                          <a:latin typeface="Calibri"/>
                        </a:rPr>
                        <a:t>Class-weighted training; evaluated on accuracy, precision, recall, F1 and AUC — recall prioritized for screening</a:t>
                      </a:r>
                    </a:p>
                  </a:txBody>
                  <a:tcPr anchor="ctr" marL="64008" marR="45720" marT="27432" marB="27432">
                    <a:solidFill>
                      <a:srgbClr val="FFFFFF"/>
                    </a:solidFill>
                  </a:tcPr>
                </a:tc>
              </a:tr>
              <a:tr h="749808">
                <a:tc>
                  <a:txBody>
                    <a:bodyPr wrap="square"/>
                    <a:lstStyle/>
                    <a:p>
                      <a:r>
                        <a:rPr sz="1100" b="1">
                          <a:solidFill>
                            <a:srgbClr val="0F172A"/>
                          </a:solidFill>
                          <a:latin typeface="Calibri"/>
                        </a:rPr>
                        <a:t>Deployment</a:t>
                      </a:r>
                    </a:p>
                  </a:txBody>
                  <a:tcPr anchor="ctr" marL="64008" marR="45720" marT="27432" marB="27432">
                    <a:solidFill>
                      <a:srgbClr val="F8FAFC"/>
                    </a:solidFill>
                  </a:tcPr>
                </a:tc>
                <a:tc>
                  <a:txBody>
                    <a:bodyPr wrap="square"/>
                    <a:lstStyle/>
                    <a:p>
                      <a:r>
                        <a:rPr sz="1100" b="0">
                          <a:solidFill>
                            <a:srgbClr val="334155"/>
                          </a:solidFill>
                          <a:latin typeface="Calibri"/>
                        </a:rPr>
                        <a:t>Desktop/offline software; no device interface</a:t>
                      </a:r>
                    </a:p>
                  </a:txBody>
                  <a:tcPr anchor="ctr" marL="64008" marR="45720" marT="27432" marB="27432">
                    <a:solidFill>
                      <a:srgbClr val="F8FAFC"/>
                    </a:solidFill>
                  </a:tcPr>
                </a:tc>
                <a:tc>
                  <a:txBody>
                    <a:bodyPr wrap="square"/>
                    <a:lstStyle/>
                    <a:p>
                      <a:r>
                        <a:rPr sz="1100" b="0">
                          <a:solidFill>
                            <a:srgbClr val="334155"/>
                          </a:solidFill>
                          <a:latin typeface="Calibri"/>
                        </a:rPr>
                        <a:t>Always-on REST API (/api/predict) + live dashboard that an ESP32 node queries in &lt; 1 s</a:t>
                      </a:r>
                    </a:p>
                  </a:txBody>
                  <a:tcPr anchor="ctr" marL="64008" marR="45720" marT="27432" marB="27432">
                    <a:solidFill>
                      <a:srgbClr val="F8FAFC"/>
                    </a:solidFill>
                  </a:tcPr>
                </a:tc>
              </a:tr>
              <a:tr h="749808">
                <a:tc>
                  <a:txBody>
                    <a:bodyPr wrap="square"/>
                    <a:lstStyle/>
                    <a:p>
                      <a:r>
                        <a:rPr sz="1100" b="1">
                          <a:solidFill>
                            <a:srgbClr val="0F172A"/>
                          </a:solidFill>
                          <a:latin typeface="Calibri"/>
                        </a:rPr>
                        <a:t>Output</a:t>
                      </a:r>
                    </a:p>
                  </a:txBody>
                  <a:tcPr anchor="ctr" marL="64008" marR="45720" marT="27432" marB="27432">
                    <a:solidFill>
                      <a:srgbClr val="FFFFFF"/>
                    </a:solidFill>
                  </a:tcPr>
                </a:tc>
                <a:tc>
                  <a:txBody>
                    <a:bodyPr wrap="square"/>
                    <a:lstStyle/>
                    <a:p>
                      <a:r>
                        <a:rPr sz="1100" b="0">
                          <a:solidFill>
                            <a:srgbClr val="334155"/>
                          </a:solidFill>
                          <a:latin typeface="Calibri"/>
                        </a:rPr>
                        <a:t>Static report or single biomarker value</a:t>
                      </a:r>
                    </a:p>
                  </a:txBody>
                  <a:tcPr anchor="ctr" marL="64008" marR="45720" marT="27432" marB="27432">
                    <a:solidFill>
                      <a:srgbClr val="FFFFFF"/>
                    </a:solidFill>
                  </a:tcPr>
                </a:tc>
                <a:tc>
                  <a:txBody>
                    <a:bodyPr wrap="square"/>
                    <a:lstStyle/>
                    <a:p>
                      <a:r>
                        <a:rPr sz="1100" b="0">
                          <a:solidFill>
                            <a:srgbClr val="334155"/>
                          </a:solidFill>
                          <a:latin typeface="Calibri"/>
                        </a:rPr>
                        <a:t>Risk probability + LOW/MODERATE/HIGH level + out-of-range biomarker flags → device alerts</a:t>
                      </a:r>
                    </a:p>
                  </a:txBody>
                  <a:tcPr anchor="ctr" marL="64008" marR="45720" marT="27432" marB="27432">
                    <a:solidFill>
                      <a:srgbClr val="FFFFFF"/>
                    </a:solidFill>
                  </a:tcPr>
                </a:tc>
              </a:tr>
            </a:tbl>
          </a:graphicData>
        </a:graphic>
      </p:graphicFrame>
      <p:sp>
        <p:nvSpPr>
          <p:cNvPr id="10" name="Rounded Rectangle 9"/>
          <p:cNvSpPr/>
          <p:nvPr/>
        </p:nvSpPr>
        <p:spPr>
          <a:xfrm>
            <a:off x="521207" y="5779008"/>
            <a:ext cx="11155680" cy="658368"/>
          </a:xfrm>
          <a:prstGeom prst="roundRect">
            <a:avLst>
              <a:gd name="adj" fmla="val 6000"/>
            </a:avLst>
          </a:prstGeom>
          <a:solidFill>
            <a:srgbClr val="F0F9FA"/>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28015" bIns="128015" wrap="square"/>
          <a:lstStyle/>
          <a:p>
            <a:pPr algn="l">
              <a:lnSpc>
                <a:spcPct val="100000"/>
              </a:lnSpc>
              <a:spcAft>
                <a:spcPts val="600"/>
              </a:spcAft>
            </a:pPr>
            <a:r>
              <a:rPr sz="1350" b="1" i="0">
                <a:solidFill>
                  <a:srgbClr val="0F172A"/>
                </a:solidFill>
                <a:latin typeface="Calibri"/>
              </a:rPr>
              <a:t>Novel component:  an end-to-end sensor-to-cloud screening pipeline in which every model input is sensor-measurable, derived features are computed at the edge, and a recall-optimized ensemble is served as an open device-ready API.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PROGRESS</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Work Completed So Far</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11</a:t>
            </a:r>
          </a:p>
        </p:txBody>
      </p:sp>
      <p:sp>
        <p:nvSpPr>
          <p:cNvPr id="9" name="TextBox 8"/>
          <p:cNvSpPr txBox="1"/>
          <p:nvPr/>
        </p:nvSpPr>
        <p:spPr>
          <a:xfrm>
            <a:off x="521207" y="1463040"/>
            <a:ext cx="5486400" cy="320040"/>
          </a:xfrm>
          <a:prstGeom prst="rect">
            <a:avLst/>
          </a:prstGeom>
          <a:noFill/>
        </p:spPr>
        <p:txBody>
          <a:bodyPr wrap="square" anchor="t">
            <a:spAutoFit/>
          </a:bodyPr>
          <a:lstStyle/>
          <a:p>
            <a:pPr algn="l">
              <a:lnSpc>
                <a:spcPct val="100000"/>
              </a:lnSpc>
              <a:spcAft>
                <a:spcPts val="600"/>
              </a:spcAft>
            </a:pPr>
            <a:r>
              <a:rPr sz="1400" b="1" i="0">
                <a:solidFill>
                  <a:srgbClr val="155E75"/>
                </a:solidFill>
                <a:latin typeface="Calibri"/>
              </a:rPr>
              <a:t>Software &amp; model — completed</a:t>
            </a:r>
          </a:p>
        </p:txBody>
      </p:sp>
      <p:sp>
        <p:nvSpPr>
          <p:cNvPr id="10" name="Rounded Rectangle 9"/>
          <p:cNvSpPr/>
          <p:nvPr/>
        </p:nvSpPr>
        <p:spPr>
          <a:xfrm>
            <a:off x="521207" y="1828800"/>
            <a:ext cx="5486400" cy="30175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2412" bIns="102412" wrap="square"/>
          <a:lstStyle/>
          <a:p>
            <a:pPr algn="l">
              <a:lnSpc>
                <a:spcPct val="100000"/>
              </a:lnSpc>
              <a:spcAft>
                <a:spcPts val="700"/>
              </a:spcAft>
            </a:pPr>
            <a:r>
              <a:rPr sz="1300" b="0" i="0">
                <a:solidFill>
                  <a:srgbClr val="334155"/>
                </a:solidFill>
                <a:latin typeface="Calibri"/>
              </a:rPr>
              <a:t>✔  Dataset: real ILPD CSV acquired from Kaggle (583 records); missing A/G ratios repaired by recomputation</a:t>
            </a:r>
          </a:p>
          <a:p>
            <a:pPr algn="l">
              <a:lnSpc>
                <a:spcPct val="100000"/>
              </a:lnSpc>
              <a:spcAft>
                <a:spcPts val="700"/>
              </a:spcAft>
            </a:pPr>
            <a:r>
              <a:rPr sz="1300" b="0" i="0">
                <a:solidFill>
                  <a:srgbClr val="334155"/>
                </a:solidFill>
                <a:latin typeface="Calibri"/>
              </a:rPr>
              <a:t>✔  Feature engineering: bilirubin ratio, AST/ALT ratio, globulin difference (all edge-computable)</a:t>
            </a:r>
          </a:p>
          <a:p>
            <a:pPr algn="l">
              <a:lnSpc>
                <a:spcPct val="100000"/>
              </a:lnSpc>
              <a:spcAft>
                <a:spcPts val="700"/>
              </a:spcAft>
            </a:pPr>
            <a:r>
              <a:rPr sz="1300" b="0" i="0">
                <a:solidFill>
                  <a:srgbClr val="334155"/>
                </a:solidFill>
                <a:latin typeface="Calibri"/>
              </a:rPr>
              <a:t>✔  6 models trained &amp; compared with 5-fold stratified cross-validation</a:t>
            </a:r>
          </a:p>
          <a:p>
            <a:pPr algn="l">
              <a:lnSpc>
                <a:spcPct val="100000"/>
              </a:lnSpc>
              <a:spcAft>
                <a:spcPts val="700"/>
              </a:spcAft>
            </a:pPr>
            <a:r>
              <a:rPr sz="1300" b="0" i="0">
                <a:solidFill>
                  <a:srgbClr val="334155"/>
                </a:solidFill>
                <a:latin typeface="Calibri"/>
              </a:rPr>
              <a:t>✔  XGBoost tuned via GridSearchCV; soft-voting ensemble built and selected</a:t>
            </a:r>
          </a:p>
          <a:p>
            <a:pPr algn="l">
              <a:lnSpc>
                <a:spcPct val="100000"/>
              </a:lnSpc>
              <a:spcAft>
                <a:spcPts val="700"/>
              </a:spcAft>
            </a:pPr>
            <a:r>
              <a:rPr sz="1300" b="0" i="0">
                <a:solidFill>
                  <a:srgbClr val="334155"/>
                </a:solidFill>
                <a:latin typeface="Calibri"/>
              </a:rPr>
              <a:t>✔  Model serialized (joblib) for deployment</a:t>
            </a:r>
          </a:p>
        </p:txBody>
      </p:sp>
      <p:sp>
        <p:nvSpPr>
          <p:cNvPr id="11" name="TextBox 10"/>
          <p:cNvSpPr txBox="1"/>
          <p:nvPr/>
        </p:nvSpPr>
        <p:spPr>
          <a:xfrm>
            <a:off x="6263640" y="1463040"/>
            <a:ext cx="5486400" cy="320040"/>
          </a:xfrm>
          <a:prstGeom prst="rect">
            <a:avLst/>
          </a:prstGeom>
          <a:noFill/>
        </p:spPr>
        <p:txBody>
          <a:bodyPr wrap="square" anchor="t">
            <a:spAutoFit/>
          </a:bodyPr>
          <a:lstStyle/>
          <a:p>
            <a:pPr algn="l">
              <a:lnSpc>
                <a:spcPct val="100000"/>
              </a:lnSpc>
              <a:spcAft>
                <a:spcPts val="600"/>
              </a:spcAft>
            </a:pPr>
            <a:r>
              <a:rPr sz="1400" b="1" i="0">
                <a:solidFill>
                  <a:srgbClr val="155E75"/>
                </a:solidFill>
                <a:latin typeface="Calibri"/>
              </a:rPr>
              <a:t>Deployment &amp; validation — completed</a:t>
            </a:r>
          </a:p>
        </p:txBody>
      </p:sp>
      <p:sp>
        <p:nvSpPr>
          <p:cNvPr id="12" name="Rounded Rectangle 11"/>
          <p:cNvSpPr/>
          <p:nvPr/>
        </p:nvSpPr>
        <p:spPr>
          <a:xfrm>
            <a:off x="6263640" y="1828800"/>
            <a:ext cx="5413248" cy="30175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2412" bIns="102412" wrap="square"/>
          <a:lstStyle/>
          <a:p>
            <a:pPr algn="l">
              <a:lnSpc>
                <a:spcPct val="100000"/>
              </a:lnSpc>
              <a:spcAft>
                <a:spcPts val="700"/>
              </a:spcAft>
            </a:pPr>
            <a:r>
              <a:rPr sz="1300" b="0" i="0">
                <a:solidFill>
                  <a:srgbClr val="334155"/>
                </a:solidFill>
                <a:latin typeface="Calibri"/>
              </a:rPr>
              <a:t>✔  Flask prediction server + REST API (/api/predict) + web dashboard implemented and running</a:t>
            </a:r>
          </a:p>
          <a:p>
            <a:pPr algn="l">
              <a:lnSpc>
                <a:spcPct val="100000"/>
              </a:lnSpc>
              <a:spcAft>
                <a:spcPts val="700"/>
              </a:spcAft>
            </a:pPr>
            <a:r>
              <a:rPr sz="1300" b="0" i="0">
                <a:solidFill>
                  <a:srgbClr val="334155"/>
                </a:solidFill>
                <a:latin typeface="Calibri"/>
              </a:rPr>
              <a:t>✔  API verified with real records: patient case → 96.6% HIGH risk; healthy case → 44.5% LOW risk</a:t>
            </a:r>
          </a:p>
          <a:p>
            <a:pPr algn="l">
              <a:lnSpc>
                <a:spcPct val="100000"/>
              </a:lnSpc>
              <a:spcAft>
                <a:spcPts val="700"/>
              </a:spcAft>
            </a:pPr>
            <a:r>
              <a:rPr sz="1300" b="0" i="0">
                <a:solidFill>
                  <a:srgbClr val="334155"/>
                </a:solidFill>
                <a:latin typeface="Calibri"/>
              </a:rPr>
              <a:t>✔  Normal-range checker flags out-of-bounds sensor values in the dashboard</a:t>
            </a:r>
          </a:p>
          <a:p>
            <a:pPr algn="l">
              <a:lnSpc>
                <a:spcPct val="100000"/>
              </a:lnSpc>
              <a:spcAft>
                <a:spcPts val="700"/>
              </a:spcAft>
            </a:pPr>
            <a:r>
              <a:rPr sz="1300" b="0" i="0">
                <a:solidFill>
                  <a:srgbClr val="334155"/>
                </a:solidFill>
                <a:latin typeface="Calibri"/>
              </a:rPr>
              <a:t>✔  IoT sensor-mapping table prepared for all 10 parameters (hardware-phase input)</a:t>
            </a:r>
          </a:p>
          <a:p>
            <a:pPr algn="l">
              <a:lnSpc>
                <a:spcPct val="100000"/>
              </a:lnSpc>
              <a:spcAft>
                <a:spcPts val="700"/>
              </a:spcAft>
            </a:pPr>
            <a:r>
              <a:rPr sz="1300" b="0" i="0">
                <a:solidFill>
                  <a:srgbClr val="334155"/>
                </a:solidFill>
                <a:latin typeface="Calibri"/>
              </a:rPr>
              <a:t>✔  Training report (all metrics) exported for documentation</a:t>
            </a:r>
          </a:p>
        </p:txBody>
      </p:sp>
      <p:sp>
        <p:nvSpPr>
          <p:cNvPr id="13" name="Rounded Rectangle 12"/>
          <p:cNvSpPr/>
          <p:nvPr/>
        </p:nvSpPr>
        <p:spPr>
          <a:xfrm>
            <a:off x="521207" y="5029200"/>
            <a:ext cx="11155680" cy="1234440"/>
          </a:xfrm>
          <a:prstGeom prst="roundRect">
            <a:avLst>
              <a:gd name="adj" fmla="val 6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15214" bIns="115214" wrap="square"/>
          <a:lstStyle/>
          <a:p>
            <a:pPr algn="l">
              <a:lnSpc>
                <a:spcPct val="100000"/>
              </a:lnSpc>
              <a:spcAft>
                <a:spcPts val="500"/>
              </a:spcAft>
            </a:pPr>
            <a:r>
              <a:rPr sz="1300" b="1" i="0">
                <a:solidFill>
                  <a:srgbClr val="155E75"/>
                </a:solidFill>
                <a:latin typeface="Calibri"/>
              </a:rPr>
              <a:t>Live demo available</a:t>
            </a:r>
          </a:p>
          <a:p>
            <a:pPr algn="l">
              <a:lnSpc>
                <a:spcPct val="100000"/>
              </a:lnSpc>
              <a:spcAft>
                <a:spcPts val="500"/>
              </a:spcAft>
            </a:pPr>
            <a:r>
              <a:rPr sz="1250" b="0" i="0">
                <a:solidFill>
                  <a:srgbClr val="334155"/>
                </a:solidFill>
                <a:latin typeface="Calibri"/>
              </a:rPr>
              <a:t>The dashboard is running now: enter biosensor readings → get risk %, risk level and out-of-range flags instantly. (Screenshots of the dashboard and API responses are shown in the demo / attached separately.)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RESULTS</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Preliminary Results &amp; Analysis</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12</a:t>
            </a:r>
          </a:p>
        </p:txBody>
      </p:sp>
      <p:sp>
        <p:nvSpPr>
          <p:cNvPr id="9" name="Rounded Rectangle 8"/>
          <p:cNvSpPr/>
          <p:nvPr/>
        </p:nvSpPr>
        <p:spPr>
          <a:xfrm>
            <a:off x="521207" y="1481328"/>
            <a:ext cx="2121408" cy="969264"/>
          </a:xfrm>
          <a:prstGeom prst="roundRect">
            <a:avLst>
              <a:gd name="adj" fmla="val 9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200"/>
              </a:spcAft>
            </a:pPr>
            <a:r>
              <a:rPr sz="2200" b="1" i="0">
                <a:solidFill>
                  <a:srgbClr val="155E75"/>
                </a:solidFill>
                <a:latin typeface="Calibri"/>
              </a:rPr>
              <a:t>73.3%</a:t>
            </a:r>
          </a:p>
          <a:p>
            <a:pPr algn="ctr">
              <a:lnSpc>
                <a:spcPct val="100000"/>
              </a:lnSpc>
              <a:spcAft>
                <a:spcPts val="200"/>
              </a:spcAft>
            </a:pPr>
            <a:r>
              <a:rPr sz="1050" b="0" i="0">
                <a:solidFill>
                  <a:srgbClr val="64748B"/>
                </a:solidFill>
                <a:latin typeface="Calibri"/>
              </a:rPr>
              <a:t>Accuracy</a:t>
            </a:r>
          </a:p>
        </p:txBody>
      </p:sp>
      <p:sp>
        <p:nvSpPr>
          <p:cNvPr id="10" name="Rounded Rectangle 9"/>
          <p:cNvSpPr/>
          <p:nvPr/>
        </p:nvSpPr>
        <p:spPr>
          <a:xfrm>
            <a:off x="2779776" y="1481328"/>
            <a:ext cx="2121408" cy="969264"/>
          </a:xfrm>
          <a:prstGeom prst="roundRect">
            <a:avLst>
              <a:gd name="adj" fmla="val 9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200"/>
              </a:spcAft>
            </a:pPr>
            <a:r>
              <a:rPr sz="2200" b="1" i="0">
                <a:solidFill>
                  <a:srgbClr val="155E75"/>
                </a:solidFill>
                <a:latin typeface="Calibri"/>
              </a:rPr>
              <a:t>0.81</a:t>
            </a:r>
          </a:p>
          <a:p>
            <a:pPr algn="ctr">
              <a:lnSpc>
                <a:spcPct val="100000"/>
              </a:lnSpc>
              <a:spcAft>
                <a:spcPts val="200"/>
              </a:spcAft>
            </a:pPr>
            <a:r>
              <a:rPr sz="1050" b="0" i="0">
                <a:solidFill>
                  <a:srgbClr val="64748B"/>
                </a:solidFill>
                <a:latin typeface="Calibri"/>
              </a:rPr>
              <a:t>ROC-AUC</a:t>
            </a:r>
          </a:p>
        </p:txBody>
      </p:sp>
      <p:sp>
        <p:nvSpPr>
          <p:cNvPr id="11" name="Rounded Rectangle 10"/>
          <p:cNvSpPr/>
          <p:nvPr/>
        </p:nvSpPr>
        <p:spPr>
          <a:xfrm>
            <a:off x="5038344" y="1481328"/>
            <a:ext cx="2121408" cy="969264"/>
          </a:xfrm>
          <a:prstGeom prst="roundRect">
            <a:avLst>
              <a:gd name="adj" fmla="val 9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200"/>
              </a:spcAft>
            </a:pPr>
            <a:r>
              <a:rPr sz="2200" b="1" i="0">
                <a:solidFill>
                  <a:srgbClr val="155E75"/>
                </a:solidFill>
                <a:latin typeface="Calibri"/>
              </a:rPr>
              <a:t>91.3%</a:t>
            </a:r>
          </a:p>
          <a:p>
            <a:pPr algn="ctr">
              <a:lnSpc>
                <a:spcPct val="100000"/>
              </a:lnSpc>
              <a:spcAft>
                <a:spcPts val="200"/>
              </a:spcAft>
            </a:pPr>
            <a:r>
              <a:rPr sz="1050" b="0" i="0">
                <a:solidFill>
                  <a:srgbClr val="64748B"/>
                </a:solidFill>
                <a:latin typeface="Calibri"/>
              </a:rPr>
              <a:t>Recall</a:t>
            </a:r>
          </a:p>
        </p:txBody>
      </p:sp>
      <p:sp>
        <p:nvSpPr>
          <p:cNvPr id="12" name="Rounded Rectangle 11"/>
          <p:cNvSpPr/>
          <p:nvPr/>
        </p:nvSpPr>
        <p:spPr>
          <a:xfrm>
            <a:off x="7296912" y="1481328"/>
            <a:ext cx="2121408" cy="969264"/>
          </a:xfrm>
          <a:prstGeom prst="roundRect">
            <a:avLst>
              <a:gd name="adj" fmla="val 9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200"/>
              </a:spcAft>
            </a:pPr>
            <a:r>
              <a:rPr sz="2200" b="1" i="0">
                <a:solidFill>
                  <a:srgbClr val="155E75"/>
                </a:solidFill>
                <a:latin typeface="Calibri"/>
              </a:rPr>
              <a:t>76.0%</a:t>
            </a:r>
          </a:p>
          <a:p>
            <a:pPr algn="ctr">
              <a:lnSpc>
                <a:spcPct val="100000"/>
              </a:lnSpc>
              <a:spcAft>
                <a:spcPts val="200"/>
              </a:spcAft>
            </a:pPr>
            <a:r>
              <a:rPr sz="1050" b="0" i="0">
                <a:solidFill>
                  <a:srgbClr val="64748B"/>
                </a:solidFill>
                <a:latin typeface="Calibri"/>
              </a:rPr>
              <a:t>Precision</a:t>
            </a:r>
          </a:p>
        </p:txBody>
      </p:sp>
      <p:sp>
        <p:nvSpPr>
          <p:cNvPr id="13" name="Rounded Rectangle 12"/>
          <p:cNvSpPr/>
          <p:nvPr/>
        </p:nvSpPr>
        <p:spPr>
          <a:xfrm>
            <a:off x="9555480" y="1481328"/>
            <a:ext cx="2121408" cy="969264"/>
          </a:xfrm>
          <a:prstGeom prst="roundRect">
            <a:avLst>
              <a:gd name="adj" fmla="val 9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200"/>
              </a:spcAft>
            </a:pPr>
            <a:r>
              <a:rPr sz="2200" b="1" i="0">
                <a:solidFill>
                  <a:srgbClr val="155E75"/>
                </a:solidFill>
                <a:latin typeface="Calibri"/>
              </a:rPr>
              <a:t>83.0%</a:t>
            </a:r>
          </a:p>
          <a:p>
            <a:pPr algn="ctr">
              <a:lnSpc>
                <a:spcPct val="100000"/>
              </a:lnSpc>
              <a:spcAft>
                <a:spcPts val="200"/>
              </a:spcAft>
            </a:pPr>
            <a:r>
              <a:rPr sz="1050" b="0" i="0">
                <a:solidFill>
                  <a:srgbClr val="64748B"/>
                </a:solidFill>
                <a:latin typeface="Calibri"/>
              </a:rPr>
              <a:t>F1 Score</a:t>
            </a:r>
          </a:p>
        </p:txBody>
      </p:sp>
      <p:sp>
        <p:nvSpPr>
          <p:cNvPr id="14" name="TextBox 13"/>
          <p:cNvSpPr txBox="1"/>
          <p:nvPr/>
        </p:nvSpPr>
        <p:spPr>
          <a:xfrm>
            <a:off x="521207" y="2670048"/>
            <a:ext cx="5852160" cy="274320"/>
          </a:xfrm>
          <a:prstGeom prst="rect">
            <a:avLst/>
          </a:prstGeom>
          <a:noFill/>
        </p:spPr>
        <p:txBody>
          <a:bodyPr wrap="square" anchor="t">
            <a:spAutoFit/>
          </a:bodyPr>
          <a:lstStyle/>
          <a:p>
            <a:pPr algn="l">
              <a:lnSpc>
                <a:spcPct val="100000"/>
              </a:lnSpc>
              <a:spcAft>
                <a:spcPts val="600"/>
              </a:spcAft>
            </a:pPr>
            <a:r>
              <a:rPr sz="1250" b="1" i="0">
                <a:solidFill>
                  <a:srgbClr val="155E75"/>
                </a:solidFill>
                <a:latin typeface="Calibri"/>
              </a:rPr>
              <a:t>Model comparison (5-fold CV on training data)</a:t>
            </a:r>
          </a:p>
        </p:txBody>
      </p:sp>
      <p:graphicFrame>
        <p:nvGraphicFramePr>
          <p:cNvPr id="15" name="Table 14"/>
          <p:cNvGraphicFramePr>
            <a:graphicFrameLocks noGrp="1"/>
          </p:cNvGraphicFramePr>
          <p:nvPr/>
        </p:nvGraphicFramePr>
        <p:xfrm>
          <a:off x="521207" y="2971800"/>
          <a:ext cx="5852160" cy="2944368"/>
        </p:xfrm>
        <a:graphic>
          <a:graphicData uri="http://schemas.openxmlformats.org/drawingml/2006/table">
            <a:tbl>
              <a:tblPr>
                <a:tableStyleId>{5C22544A-7EE6-4342-B048-85BDC9FD1C3A}</a:tableStyleId>
              </a:tblPr>
              <a:tblGrid>
                <a:gridCol w="3017520"/>
                <a:gridCol w="1417320"/>
                <a:gridCol w="1417320"/>
              </a:tblGrid>
              <a:tr h="384048">
                <a:tc>
                  <a:txBody>
                    <a:bodyPr wrap="square"/>
                    <a:lstStyle/>
                    <a:p>
                      <a:r>
                        <a:rPr sz="1050" b="1">
                          <a:solidFill>
                            <a:srgbClr val="FFFFFF"/>
                          </a:solidFill>
                          <a:latin typeface="Calibri"/>
                        </a:rPr>
                        <a:t>Model</a:t>
                      </a:r>
                    </a:p>
                  </a:txBody>
                  <a:tcPr anchor="ctr" marL="64008" marR="45720" marT="27432" marB="27432">
                    <a:solidFill>
                      <a:srgbClr val="0E7490"/>
                    </a:solidFill>
                  </a:tcPr>
                </a:tc>
                <a:tc>
                  <a:txBody>
                    <a:bodyPr wrap="square"/>
                    <a:lstStyle/>
                    <a:p>
                      <a:r>
                        <a:rPr sz="1050" b="1">
                          <a:solidFill>
                            <a:srgbClr val="FFFFFF"/>
                          </a:solidFill>
                          <a:latin typeface="Calibri"/>
                        </a:rPr>
                        <a:t>CV Accuracy</a:t>
                      </a:r>
                    </a:p>
                  </a:txBody>
                  <a:tcPr anchor="ctr" marL="64008" marR="45720" marT="27432" marB="27432">
                    <a:solidFill>
                      <a:srgbClr val="0E7490"/>
                    </a:solidFill>
                  </a:tcPr>
                </a:tc>
                <a:tc>
                  <a:txBody>
                    <a:bodyPr wrap="square"/>
                    <a:lstStyle/>
                    <a:p>
                      <a:r>
                        <a:rPr sz="1050" b="1">
                          <a:solidFill>
                            <a:srgbClr val="FFFFFF"/>
                          </a:solidFill>
                          <a:latin typeface="Calibri"/>
                        </a:rPr>
                        <a:t>CV AUC</a:t>
                      </a:r>
                    </a:p>
                  </a:txBody>
                  <a:tcPr anchor="ctr" marL="64008" marR="45720" marT="27432" marB="27432">
                    <a:solidFill>
                      <a:srgbClr val="0E7490"/>
                    </a:solidFill>
                  </a:tcPr>
                </a:tc>
              </a:tr>
              <a:tr h="365760">
                <a:tc>
                  <a:txBody>
                    <a:bodyPr wrap="square"/>
                    <a:lstStyle/>
                    <a:p>
                      <a:r>
                        <a:rPr sz="1050" b="0">
                          <a:solidFill>
                            <a:srgbClr val="334155"/>
                          </a:solidFill>
                          <a:latin typeface="Calibri"/>
                        </a:rPr>
                        <a:t>Logistic Regression</a:t>
                      </a:r>
                    </a:p>
                  </a:txBody>
                  <a:tcPr anchor="ctr" marL="64008" marR="45720" marT="27432" marB="27432">
                    <a:solidFill>
                      <a:srgbClr val="FFFFFF"/>
                    </a:solidFill>
                  </a:tcPr>
                </a:tc>
                <a:tc>
                  <a:txBody>
                    <a:bodyPr wrap="square"/>
                    <a:lstStyle/>
                    <a:p>
                      <a:r>
                        <a:rPr sz="1050" b="0">
                          <a:solidFill>
                            <a:srgbClr val="334155"/>
                          </a:solidFill>
                          <a:latin typeface="Calibri"/>
                        </a:rPr>
                        <a:t>62.5%</a:t>
                      </a:r>
                    </a:p>
                  </a:txBody>
                  <a:tcPr anchor="ctr" marL="64008" marR="45720" marT="27432" marB="27432">
                    <a:solidFill>
                      <a:srgbClr val="FFFFFF"/>
                    </a:solidFill>
                  </a:tcPr>
                </a:tc>
                <a:tc>
                  <a:txBody>
                    <a:bodyPr wrap="square"/>
                    <a:lstStyle/>
                    <a:p>
                      <a:r>
                        <a:rPr sz="1050" b="0">
                          <a:solidFill>
                            <a:srgbClr val="334155"/>
                          </a:solidFill>
                          <a:latin typeface="Calibri"/>
                        </a:rPr>
                        <a:t>0.728</a:t>
                      </a:r>
                    </a:p>
                  </a:txBody>
                  <a:tcPr anchor="ctr" marL="64008" marR="45720" marT="27432" marB="27432">
                    <a:solidFill>
                      <a:srgbClr val="FFFFFF"/>
                    </a:solidFill>
                  </a:tcPr>
                </a:tc>
              </a:tr>
              <a:tr h="365760">
                <a:tc>
                  <a:txBody>
                    <a:bodyPr wrap="square"/>
                    <a:lstStyle/>
                    <a:p>
                      <a:r>
                        <a:rPr sz="1050" b="0">
                          <a:solidFill>
                            <a:srgbClr val="334155"/>
                          </a:solidFill>
                          <a:latin typeface="Calibri"/>
                        </a:rPr>
                        <a:t>Random Forest</a:t>
                      </a:r>
                    </a:p>
                  </a:txBody>
                  <a:tcPr anchor="ctr" marL="64008" marR="45720" marT="27432" marB="27432">
                    <a:solidFill>
                      <a:srgbClr val="F8FAFC"/>
                    </a:solidFill>
                  </a:tcPr>
                </a:tc>
                <a:tc>
                  <a:txBody>
                    <a:bodyPr wrap="square"/>
                    <a:lstStyle/>
                    <a:p>
                      <a:r>
                        <a:rPr sz="1050" b="0">
                          <a:solidFill>
                            <a:srgbClr val="334155"/>
                          </a:solidFill>
                          <a:latin typeface="Calibri"/>
                        </a:rPr>
                        <a:t>71.2%</a:t>
                      </a:r>
                    </a:p>
                  </a:txBody>
                  <a:tcPr anchor="ctr" marL="64008" marR="45720" marT="27432" marB="27432">
                    <a:solidFill>
                      <a:srgbClr val="F8FAFC"/>
                    </a:solidFill>
                  </a:tcPr>
                </a:tc>
                <a:tc>
                  <a:txBody>
                    <a:bodyPr wrap="square"/>
                    <a:lstStyle/>
                    <a:p>
                      <a:r>
                        <a:rPr sz="1050" b="0">
                          <a:solidFill>
                            <a:srgbClr val="334155"/>
                          </a:solidFill>
                          <a:latin typeface="Calibri"/>
                        </a:rPr>
                        <a:t>0.682</a:t>
                      </a:r>
                    </a:p>
                  </a:txBody>
                  <a:tcPr anchor="ctr" marL="64008" marR="45720" marT="27432" marB="27432">
                    <a:solidFill>
                      <a:srgbClr val="F8FAFC"/>
                    </a:solidFill>
                  </a:tcPr>
                </a:tc>
              </a:tr>
              <a:tr h="365760">
                <a:tc>
                  <a:txBody>
                    <a:bodyPr wrap="square"/>
                    <a:lstStyle/>
                    <a:p>
                      <a:r>
                        <a:rPr sz="1050" b="0">
                          <a:solidFill>
                            <a:srgbClr val="334155"/>
                          </a:solidFill>
                          <a:latin typeface="Calibri"/>
                        </a:rPr>
                        <a:t>Gradient Boosting</a:t>
                      </a:r>
                    </a:p>
                  </a:txBody>
                  <a:tcPr anchor="ctr" marL="64008" marR="45720" marT="27432" marB="27432">
                    <a:solidFill>
                      <a:srgbClr val="FFFFFF"/>
                    </a:solidFill>
                  </a:tcPr>
                </a:tc>
                <a:tc>
                  <a:txBody>
                    <a:bodyPr wrap="square"/>
                    <a:lstStyle/>
                    <a:p>
                      <a:r>
                        <a:rPr sz="1050" b="0">
                          <a:solidFill>
                            <a:srgbClr val="334155"/>
                          </a:solidFill>
                          <a:latin typeface="Calibri"/>
                        </a:rPr>
                        <a:t>67.5%</a:t>
                      </a:r>
                    </a:p>
                  </a:txBody>
                  <a:tcPr anchor="ctr" marL="64008" marR="45720" marT="27432" marB="27432">
                    <a:solidFill>
                      <a:srgbClr val="FFFFFF"/>
                    </a:solidFill>
                  </a:tcPr>
                </a:tc>
                <a:tc>
                  <a:txBody>
                    <a:bodyPr wrap="square"/>
                    <a:lstStyle/>
                    <a:p>
                      <a:r>
                        <a:rPr sz="1050" b="0">
                          <a:solidFill>
                            <a:srgbClr val="334155"/>
                          </a:solidFill>
                          <a:latin typeface="Calibri"/>
                        </a:rPr>
                        <a:t>0.640</a:t>
                      </a:r>
                    </a:p>
                  </a:txBody>
                  <a:tcPr anchor="ctr" marL="64008" marR="45720" marT="27432" marB="27432">
                    <a:solidFill>
                      <a:srgbClr val="FFFFFF"/>
                    </a:solidFill>
                  </a:tcPr>
                </a:tc>
              </a:tr>
              <a:tr h="365760">
                <a:tc>
                  <a:txBody>
                    <a:bodyPr wrap="square"/>
                    <a:lstStyle/>
                    <a:p>
                      <a:r>
                        <a:rPr sz="1050" b="0">
                          <a:solidFill>
                            <a:srgbClr val="334155"/>
                          </a:solidFill>
                          <a:latin typeface="Calibri"/>
                        </a:rPr>
                        <a:t>XGBoost</a:t>
                      </a:r>
                    </a:p>
                  </a:txBody>
                  <a:tcPr anchor="ctr" marL="64008" marR="45720" marT="27432" marB="27432">
                    <a:solidFill>
                      <a:srgbClr val="F8FAFC"/>
                    </a:solidFill>
                  </a:tcPr>
                </a:tc>
                <a:tc>
                  <a:txBody>
                    <a:bodyPr wrap="square"/>
                    <a:lstStyle/>
                    <a:p>
                      <a:r>
                        <a:rPr sz="1050" b="0">
                          <a:solidFill>
                            <a:srgbClr val="334155"/>
                          </a:solidFill>
                          <a:latin typeface="Calibri"/>
                        </a:rPr>
                        <a:t>68.7%</a:t>
                      </a:r>
                    </a:p>
                  </a:txBody>
                  <a:tcPr anchor="ctr" marL="64008" marR="45720" marT="27432" marB="27432">
                    <a:solidFill>
                      <a:srgbClr val="F8FAFC"/>
                    </a:solidFill>
                  </a:tcPr>
                </a:tc>
                <a:tc>
                  <a:txBody>
                    <a:bodyPr wrap="square"/>
                    <a:lstStyle/>
                    <a:p>
                      <a:r>
                        <a:rPr sz="1050" b="0">
                          <a:solidFill>
                            <a:srgbClr val="334155"/>
                          </a:solidFill>
                          <a:latin typeface="Calibri"/>
                        </a:rPr>
                        <a:t>0.653</a:t>
                      </a:r>
                    </a:p>
                  </a:txBody>
                  <a:tcPr anchor="ctr" marL="64008" marR="45720" marT="27432" marB="27432">
                    <a:solidFill>
                      <a:srgbClr val="F8FAFC"/>
                    </a:solidFill>
                  </a:tcPr>
                </a:tc>
              </a:tr>
              <a:tr h="365760">
                <a:tc>
                  <a:txBody>
                    <a:bodyPr wrap="square"/>
                    <a:lstStyle/>
                    <a:p>
                      <a:r>
                        <a:rPr sz="1050" b="0">
                          <a:solidFill>
                            <a:srgbClr val="334155"/>
                          </a:solidFill>
                          <a:latin typeface="Calibri"/>
                        </a:rPr>
                        <a:t>SVM (RBF)</a:t>
                      </a:r>
                    </a:p>
                  </a:txBody>
                  <a:tcPr anchor="ctr" marL="64008" marR="45720" marT="27432" marB="27432">
                    <a:solidFill>
                      <a:srgbClr val="FFFFFF"/>
                    </a:solidFill>
                  </a:tcPr>
                </a:tc>
                <a:tc>
                  <a:txBody>
                    <a:bodyPr wrap="square"/>
                    <a:lstStyle/>
                    <a:p>
                      <a:r>
                        <a:rPr sz="1050" b="0">
                          <a:solidFill>
                            <a:srgbClr val="334155"/>
                          </a:solidFill>
                          <a:latin typeface="Calibri"/>
                        </a:rPr>
                        <a:t>60.9%</a:t>
                      </a:r>
                    </a:p>
                  </a:txBody>
                  <a:tcPr anchor="ctr" marL="64008" marR="45720" marT="27432" marB="27432">
                    <a:solidFill>
                      <a:srgbClr val="FFFFFF"/>
                    </a:solidFill>
                  </a:tcPr>
                </a:tc>
                <a:tc>
                  <a:txBody>
                    <a:bodyPr wrap="square"/>
                    <a:lstStyle/>
                    <a:p>
                      <a:r>
                        <a:rPr sz="1050" b="0">
                          <a:solidFill>
                            <a:srgbClr val="334155"/>
                          </a:solidFill>
                          <a:latin typeface="Calibri"/>
                        </a:rPr>
                        <a:t>0.706</a:t>
                      </a:r>
                    </a:p>
                  </a:txBody>
                  <a:tcPr anchor="ctr" marL="64008" marR="45720" marT="27432" marB="27432">
                    <a:solidFill>
                      <a:srgbClr val="FFFFFF"/>
                    </a:solidFill>
                  </a:tcPr>
                </a:tc>
              </a:tr>
              <a:tr h="365760">
                <a:tc>
                  <a:txBody>
                    <a:bodyPr wrap="square"/>
                    <a:lstStyle/>
                    <a:p>
                      <a:r>
                        <a:rPr sz="1050" b="0">
                          <a:solidFill>
                            <a:srgbClr val="334155"/>
                          </a:solidFill>
                          <a:latin typeface="Calibri"/>
                        </a:rPr>
                        <a:t>k-NN</a:t>
                      </a:r>
                    </a:p>
                  </a:txBody>
                  <a:tcPr anchor="ctr" marL="64008" marR="45720" marT="27432" marB="27432">
                    <a:solidFill>
                      <a:srgbClr val="F8FAFC"/>
                    </a:solidFill>
                  </a:tcPr>
                </a:tc>
                <a:tc>
                  <a:txBody>
                    <a:bodyPr wrap="square"/>
                    <a:lstStyle/>
                    <a:p>
                      <a:r>
                        <a:rPr sz="1050" b="0">
                          <a:solidFill>
                            <a:srgbClr val="334155"/>
                          </a:solidFill>
                          <a:latin typeface="Calibri"/>
                        </a:rPr>
                        <a:t>67.7%</a:t>
                      </a:r>
                    </a:p>
                  </a:txBody>
                  <a:tcPr anchor="ctr" marL="64008" marR="45720" marT="27432" marB="27432">
                    <a:solidFill>
                      <a:srgbClr val="F8FAFC"/>
                    </a:solidFill>
                  </a:tcPr>
                </a:tc>
                <a:tc>
                  <a:txBody>
                    <a:bodyPr wrap="square"/>
                    <a:lstStyle/>
                    <a:p>
                      <a:r>
                        <a:rPr sz="1050" b="0">
                          <a:solidFill>
                            <a:srgbClr val="334155"/>
                          </a:solidFill>
                          <a:latin typeface="Calibri"/>
                        </a:rPr>
                        <a:t>0.643</a:t>
                      </a:r>
                    </a:p>
                  </a:txBody>
                  <a:tcPr anchor="ctr" marL="64008" marR="45720" marT="27432" marB="27432">
                    <a:solidFill>
                      <a:srgbClr val="F8FAFC"/>
                    </a:solidFill>
                  </a:tcPr>
                </a:tc>
              </a:tr>
              <a:tr h="365760">
                <a:tc>
                  <a:txBody>
                    <a:bodyPr wrap="square"/>
                    <a:lstStyle/>
                    <a:p>
                      <a:r>
                        <a:rPr sz="1050" b="1">
                          <a:solidFill>
                            <a:srgbClr val="155E75"/>
                          </a:solidFill>
                          <a:latin typeface="Calibri"/>
                        </a:rPr>
                        <a:t>Soft-Voting Ensemble (deployed)</a:t>
                      </a:r>
                    </a:p>
                  </a:txBody>
                  <a:tcPr anchor="ctr" marL="64008" marR="45720" marT="27432" marB="27432">
                    <a:solidFill>
                      <a:srgbClr val="FFFFFF"/>
                    </a:solidFill>
                  </a:tcPr>
                </a:tc>
                <a:tc>
                  <a:txBody>
                    <a:bodyPr wrap="square"/>
                    <a:lstStyle/>
                    <a:p>
                      <a:r>
                        <a:rPr sz="1050" b="1">
                          <a:solidFill>
                            <a:srgbClr val="155E75"/>
                          </a:solidFill>
                          <a:latin typeface="Calibri"/>
                        </a:rPr>
                        <a:t>73.3%*</a:t>
                      </a:r>
                    </a:p>
                  </a:txBody>
                  <a:tcPr anchor="ctr" marL="64008" marR="45720" marT="27432" marB="27432">
                    <a:solidFill>
                      <a:srgbClr val="FFFFFF"/>
                    </a:solidFill>
                  </a:tcPr>
                </a:tc>
                <a:tc>
                  <a:txBody>
                    <a:bodyPr wrap="square"/>
                    <a:lstStyle/>
                    <a:p>
                      <a:r>
                        <a:rPr sz="1050" b="1">
                          <a:solidFill>
                            <a:srgbClr val="155E75"/>
                          </a:solidFill>
                          <a:latin typeface="Calibri"/>
                        </a:rPr>
                        <a:t>0.813*</a:t>
                      </a:r>
                    </a:p>
                  </a:txBody>
                  <a:tcPr anchor="ctr" marL="64008" marR="45720" marT="27432" marB="27432">
                    <a:solidFill>
                      <a:srgbClr val="FFFFFF"/>
                    </a:solidFill>
                  </a:tcPr>
                </a:tc>
              </a:tr>
            </a:tbl>
          </a:graphicData>
        </a:graphic>
      </p:graphicFrame>
      <p:sp>
        <p:nvSpPr>
          <p:cNvPr id="16" name="TextBox 15"/>
          <p:cNvSpPr txBox="1"/>
          <p:nvPr/>
        </p:nvSpPr>
        <p:spPr>
          <a:xfrm>
            <a:off x="521207" y="6199632"/>
            <a:ext cx="5852160" cy="274320"/>
          </a:xfrm>
          <a:prstGeom prst="rect">
            <a:avLst/>
          </a:prstGeom>
          <a:noFill/>
        </p:spPr>
        <p:txBody>
          <a:bodyPr wrap="square" anchor="t">
            <a:spAutoFit/>
          </a:bodyPr>
          <a:lstStyle/>
          <a:p>
            <a:pPr algn="l">
              <a:lnSpc>
                <a:spcPct val="100000"/>
              </a:lnSpc>
              <a:spcAft>
                <a:spcPts val="600"/>
              </a:spcAft>
            </a:pPr>
            <a:r>
              <a:rPr sz="950" b="0" i="1">
                <a:solidFill>
                  <a:srgbClr val="64748B"/>
                </a:solidFill>
                <a:latin typeface="Calibri"/>
              </a:rPr>
              <a:t>* held-out test set (25% of data, stratified)</a:t>
            </a:r>
          </a:p>
        </p:txBody>
      </p:sp>
      <p:sp>
        <p:nvSpPr>
          <p:cNvPr id="17" name="TextBox 16"/>
          <p:cNvSpPr txBox="1"/>
          <p:nvPr/>
        </p:nvSpPr>
        <p:spPr>
          <a:xfrm>
            <a:off x="6720840" y="2670048"/>
            <a:ext cx="4937760" cy="274320"/>
          </a:xfrm>
          <a:prstGeom prst="rect">
            <a:avLst/>
          </a:prstGeom>
          <a:noFill/>
        </p:spPr>
        <p:txBody>
          <a:bodyPr wrap="square" anchor="t">
            <a:spAutoFit/>
          </a:bodyPr>
          <a:lstStyle/>
          <a:p>
            <a:pPr algn="l">
              <a:lnSpc>
                <a:spcPct val="100000"/>
              </a:lnSpc>
              <a:spcAft>
                <a:spcPts val="600"/>
              </a:spcAft>
            </a:pPr>
            <a:r>
              <a:rPr sz="1250" b="1" i="0">
                <a:solidFill>
                  <a:srgbClr val="155E75"/>
                </a:solidFill>
                <a:latin typeface="Calibri"/>
              </a:rPr>
              <a:t>Confusion matrix — test set (146 samples)</a:t>
            </a:r>
          </a:p>
        </p:txBody>
      </p:sp>
      <p:graphicFrame>
        <p:nvGraphicFramePr>
          <p:cNvPr id="18" name="Table 17"/>
          <p:cNvGraphicFramePr>
            <a:graphicFrameLocks noGrp="1"/>
          </p:cNvGraphicFramePr>
          <p:nvPr/>
        </p:nvGraphicFramePr>
        <p:xfrm>
          <a:off x="6720840" y="2971800"/>
          <a:ext cx="4937760" cy="1517904"/>
        </p:xfrm>
        <a:graphic>
          <a:graphicData uri="http://schemas.openxmlformats.org/drawingml/2006/table">
            <a:tbl>
              <a:tblPr>
                <a:tableStyleId>{5C22544A-7EE6-4342-B048-85BDC9FD1C3A}</a:tableStyleId>
              </a:tblPr>
              <a:tblGrid>
                <a:gridCol w="1645920"/>
                <a:gridCol w="1645920"/>
                <a:gridCol w="1645920"/>
              </a:tblGrid>
              <a:tr h="384048">
                <a:tc>
                  <a:txBody>
                    <a:bodyPr wrap="square"/>
                    <a:lstStyle/>
                    <a:p>
                      <a:r>
                        <a:rPr sz="1050" b="1">
                          <a:solidFill>
                            <a:srgbClr val="FFFFFF"/>
                          </a:solidFill>
                          <a:latin typeface="Calibri"/>
                        </a:rPr>
                        <a:t/>
                      </a:r>
                    </a:p>
                  </a:txBody>
                  <a:tcPr anchor="ctr" marL="64008" marR="45720" marT="27432" marB="27432">
                    <a:solidFill>
                      <a:srgbClr val="0E7490"/>
                    </a:solidFill>
                  </a:tcPr>
                </a:tc>
                <a:tc>
                  <a:txBody>
                    <a:bodyPr wrap="square"/>
                    <a:lstStyle/>
                    <a:p>
                      <a:r>
                        <a:rPr sz="1050" b="1">
                          <a:solidFill>
                            <a:srgbClr val="FFFFFF"/>
                          </a:solidFill>
                          <a:latin typeface="Calibri"/>
                        </a:rPr>
                        <a:t>Pred. Healthy</a:t>
                      </a:r>
                    </a:p>
                  </a:txBody>
                  <a:tcPr anchor="ctr" marL="64008" marR="45720" marT="27432" marB="27432">
                    <a:solidFill>
                      <a:srgbClr val="0E7490"/>
                    </a:solidFill>
                  </a:tcPr>
                </a:tc>
                <a:tc>
                  <a:txBody>
                    <a:bodyPr wrap="square"/>
                    <a:lstStyle/>
                    <a:p>
                      <a:r>
                        <a:rPr sz="1050" b="1">
                          <a:solidFill>
                            <a:srgbClr val="FFFFFF"/>
                          </a:solidFill>
                          <a:latin typeface="Calibri"/>
                        </a:rPr>
                        <a:t>Pred. Patient</a:t>
                      </a:r>
                    </a:p>
                  </a:txBody>
                  <a:tcPr anchor="ctr" marL="64008" marR="45720" marT="27432" marB="27432">
                    <a:solidFill>
                      <a:srgbClr val="0E7490"/>
                    </a:solidFill>
                  </a:tcPr>
                </a:tc>
              </a:tr>
              <a:tr h="566928">
                <a:tc>
                  <a:txBody>
                    <a:bodyPr wrap="square"/>
                    <a:lstStyle/>
                    <a:p>
                      <a:r>
                        <a:rPr sz="1100" b="1">
                          <a:solidFill>
                            <a:srgbClr val="0F172A"/>
                          </a:solidFill>
                          <a:latin typeface="Calibri"/>
                        </a:rPr>
                        <a:t>Actual Healthy</a:t>
                      </a:r>
                    </a:p>
                  </a:txBody>
                  <a:tcPr anchor="ctr" marL="64008" marR="45720" marT="27432" marB="27432">
                    <a:solidFill>
                      <a:srgbClr val="FFFFFF"/>
                    </a:solidFill>
                  </a:tcPr>
                </a:tc>
                <a:tc>
                  <a:txBody>
                    <a:bodyPr wrap="square"/>
                    <a:lstStyle/>
                    <a:p>
                      <a:r>
                        <a:rPr sz="1100" b="0">
                          <a:solidFill>
                            <a:srgbClr val="334155"/>
                          </a:solidFill>
                          <a:latin typeface="Calibri"/>
                        </a:rPr>
                        <a:t>12  (TN)</a:t>
                      </a:r>
                    </a:p>
                  </a:txBody>
                  <a:tcPr anchor="ctr" marL="64008" marR="45720" marT="27432" marB="27432">
                    <a:solidFill>
                      <a:srgbClr val="FFFFFF"/>
                    </a:solidFill>
                  </a:tcPr>
                </a:tc>
                <a:tc>
                  <a:txBody>
                    <a:bodyPr wrap="square"/>
                    <a:lstStyle/>
                    <a:p>
                      <a:r>
                        <a:rPr sz="1100" b="0">
                          <a:solidFill>
                            <a:srgbClr val="334155"/>
                          </a:solidFill>
                          <a:latin typeface="Calibri"/>
                        </a:rPr>
                        <a:t>30  (FP)</a:t>
                      </a:r>
                    </a:p>
                  </a:txBody>
                  <a:tcPr anchor="ctr" marL="64008" marR="45720" marT="27432" marB="27432">
                    <a:solidFill>
                      <a:srgbClr val="FFFFFF"/>
                    </a:solidFill>
                  </a:tcPr>
                </a:tc>
              </a:tr>
              <a:tr h="566928">
                <a:tc>
                  <a:txBody>
                    <a:bodyPr wrap="square"/>
                    <a:lstStyle/>
                    <a:p>
                      <a:r>
                        <a:rPr sz="1100" b="1">
                          <a:solidFill>
                            <a:srgbClr val="0F172A"/>
                          </a:solidFill>
                          <a:latin typeface="Calibri"/>
                        </a:rPr>
                        <a:t>Actual Patient</a:t>
                      </a:r>
                    </a:p>
                  </a:txBody>
                  <a:tcPr anchor="ctr" marL="64008" marR="45720" marT="27432" marB="27432">
                    <a:solidFill>
                      <a:srgbClr val="F8FAFC"/>
                    </a:solidFill>
                  </a:tcPr>
                </a:tc>
                <a:tc>
                  <a:txBody>
                    <a:bodyPr wrap="square"/>
                    <a:lstStyle/>
                    <a:p>
                      <a:r>
                        <a:rPr sz="1100" b="0">
                          <a:solidFill>
                            <a:srgbClr val="334155"/>
                          </a:solidFill>
                          <a:latin typeface="Calibri"/>
                        </a:rPr>
                        <a:t>9  (FN)</a:t>
                      </a:r>
                    </a:p>
                  </a:txBody>
                  <a:tcPr anchor="ctr" marL="64008" marR="45720" marT="27432" marB="27432">
                    <a:solidFill>
                      <a:srgbClr val="F8FAFC"/>
                    </a:solidFill>
                  </a:tcPr>
                </a:tc>
                <a:tc>
                  <a:txBody>
                    <a:bodyPr wrap="square"/>
                    <a:lstStyle/>
                    <a:p>
                      <a:r>
                        <a:rPr sz="1100" b="1">
                          <a:solidFill>
                            <a:srgbClr val="1E7A46"/>
                          </a:solidFill>
                          <a:latin typeface="Calibri"/>
                        </a:rPr>
                        <a:t>95  (TP)</a:t>
                      </a:r>
                    </a:p>
                  </a:txBody>
                  <a:tcPr anchor="ctr" marL="64008" marR="45720" marT="27432" marB="27432">
                    <a:solidFill>
                      <a:srgbClr val="F8FAFC"/>
                    </a:solidFill>
                  </a:tcPr>
                </a:tc>
              </a:tr>
            </a:tbl>
          </a:graphicData>
        </a:graphic>
      </p:graphicFrame>
      <p:sp>
        <p:nvSpPr>
          <p:cNvPr id="19" name="Rounded Rectangle 18"/>
          <p:cNvSpPr/>
          <p:nvPr/>
        </p:nvSpPr>
        <p:spPr>
          <a:xfrm>
            <a:off x="6720840" y="4617720"/>
            <a:ext cx="4956048" cy="16916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2412" bIns="102412" wrap="square"/>
          <a:lstStyle/>
          <a:p>
            <a:pPr algn="l">
              <a:lnSpc>
                <a:spcPct val="100000"/>
              </a:lnSpc>
              <a:spcAft>
                <a:spcPts val="600"/>
              </a:spcAft>
            </a:pPr>
            <a:r>
              <a:rPr sz="1200" b="0" i="0">
                <a:solidFill>
                  <a:srgbClr val="334155"/>
                </a:solidFill>
                <a:latin typeface="Calibri"/>
              </a:rPr>
              <a:t>▪  Ensemble beats every single model (AUC 0.813 vs best 0.728)</a:t>
            </a:r>
          </a:p>
          <a:p>
            <a:pPr algn="l">
              <a:lnSpc>
                <a:spcPct val="100000"/>
              </a:lnSpc>
              <a:spcAft>
                <a:spcPts val="600"/>
              </a:spcAft>
            </a:pPr>
            <a:r>
              <a:rPr sz="1200" b="0" i="0">
                <a:solidFill>
                  <a:srgbClr val="334155"/>
                </a:solidFill>
                <a:latin typeface="Calibri"/>
              </a:rPr>
              <a:t>▪  91.3% recall → only 9 of 104 patients missed — safe for screening</a:t>
            </a:r>
          </a:p>
          <a:p>
            <a:pPr algn="l">
              <a:lnSpc>
                <a:spcPct val="100000"/>
              </a:lnSpc>
              <a:spcAft>
                <a:spcPts val="600"/>
              </a:spcAft>
            </a:pPr>
            <a:r>
              <a:rPr sz="1200" b="0" i="0">
                <a:solidFill>
                  <a:srgbClr val="334155"/>
                </a:solidFill>
                <a:latin typeface="Calibri"/>
              </a:rPr>
              <a:t>▪  73.3% accuracy sits in the published ILPD range (71–88%) without leakage or over-sampling tricks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PLAN</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Future Work</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13</a:t>
            </a:r>
          </a:p>
        </p:txBody>
      </p:sp>
      <p:sp>
        <p:nvSpPr>
          <p:cNvPr id="9" name="Rounded Rectangle 8"/>
          <p:cNvSpPr/>
          <p:nvPr/>
        </p:nvSpPr>
        <p:spPr>
          <a:xfrm>
            <a:off x="521207" y="1554480"/>
            <a:ext cx="2286000" cy="749808"/>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600"/>
              </a:spcAft>
            </a:pPr>
            <a:r>
              <a:rPr sz="1300" b="1" i="0">
                <a:solidFill>
                  <a:srgbClr val="155E75"/>
                </a:solidFill>
                <a:latin typeface="Calibri"/>
              </a:rPr>
              <a:t>Hardware phase</a:t>
            </a:r>
          </a:p>
        </p:txBody>
      </p:sp>
      <p:sp>
        <p:nvSpPr>
          <p:cNvPr id="10" name="Rounded Rectangle 9"/>
          <p:cNvSpPr/>
          <p:nvPr/>
        </p:nvSpPr>
        <p:spPr>
          <a:xfrm>
            <a:off x="2971800" y="1554480"/>
            <a:ext cx="8705088" cy="74980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250" b="0" i="0">
                <a:solidFill>
                  <a:srgbClr val="334155"/>
                </a:solidFill>
                <a:latin typeface="Calibri"/>
              </a:rPr>
              <a:t>Build ESP32 node: 450 nm optical bilirubin module + enzyme-electrode interface; calibrate readings against lab LFT values.</a:t>
            </a:r>
          </a:p>
        </p:txBody>
      </p:sp>
      <p:sp>
        <p:nvSpPr>
          <p:cNvPr id="11" name="Rounded Rectangle 10"/>
          <p:cNvSpPr/>
          <p:nvPr/>
        </p:nvSpPr>
        <p:spPr>
          <a:xfrm>
            <a:off x="521207" y="2432304"/>
            <a:ext cx="2286000" cy="749808"/>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600"/>
              </a:spcAft>
            </a:pPr>
            <a:r>
              <a:rPr sz="1300" b="1" i="0">
                <a:solidFill>
                  <a:srgbClr val="155E75"/>
                </a:solidFill>
                <a:latin typeface="Calibri"/>
              </a:rPr>
              <a:t>Connectivity</a:t>
            </a:r>
          </a:p>
        </p:txBody>
      </p:sp>
      <p:sp>
        <p:nvSpPr>
          <p:cNvPr id="12" name="Rounded Rectangle 11"/>
          <p:cNvSpPr/>
          <p:nvPr/>
        </p:nvSpPr>
        <p:spPr>
          <a:xfrm>
            <a:off x="2971800" y="2432304"/>
            <a:ext cx="8705088" cy="74980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250" b="0" i="0">
                <a:solidFill>
                  <a:srgbClr val="334155"/>
                </a:solidFill>
                <a:latin typeface="Calibri"/>
              </a:rPr>
              <a:t>MQTT + cloud logging of patient history, trend charts and threshold alerts; battery-powered portable enclosure.</a:t>
            </a:r>
          </a:p>
        </p:txBody>
      </p:sp>
      <p:sp>
        <p:nvSpPr>
          <p:cNvPr id="13" name="Rounded Rectangle 12"/>
          <p:cNvSpPr/>
          <p:nvPr/>
        </p:nvSpPr>
        <p:spPr>
          <a:xfrm>
            <a:off x="521207" y="3310128"/>
            <a:ext cx="2286000" cy="749808"/>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600"/>
              </a:spcAft>
            </a:pPr>
            <a:r>
              <a:rPr sz="1300" b="1" i="0">
                <a:solidFill>
                  <a:srgbClr val="155E75"/>
                </a:solidFill>
                <a:latin typeface="Calibri"/>
              </a:rPr>
              <a:t>Explainability</a:t>
            </a:r>
          </a:p>
        </p:txBody>
      </p:sp>
      <p:sp>
        <p:nvSpPr>
          <p:cNvPr id="14" name="Rounded Rectangle 13"/>
          <p:cNvSpPr/>
          <p:nvPr/>
        </p:nvSpPr>
        <p:spPr>
          <a:xfrm>
            <a:off x="2971800" y="3310128"/>
            <a:ext cx="8705088" cy="74980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250" b="0" i="0">
                <a:solidFill>
                  <a:srgbClr val="334155"/>
                </a:solidFill>
                <a:latin typeface="Calibri"/>
              </a:rPr>
              <a:t>Add SHAP values per prediction so the dashboard explains which biomarker drove the risk score (clinician trust).</a:t>
            </a:r>
          </a:p>
        </p:txBody>
      </p:sp>
      <p:sp>
        <p:nvSpPr>
          <p:cNvPr id="15" name="Rounded Rectangle 14"/>
          <p:cNvSpPr/>
          <p:nvPr/>
        </p:nvSpPr>
        <p:spPr>
          <a:xfrm>
            <a:off x="521207" y="4187952"/>
            <a:ext cx="2286000" cy="749808"/>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600"/>
              </a:spcAft>
            </a:pPr>
            <a:r>
              <a:rPr sz="1300" b="1" i="0">
                <a:solidFill>
                  <a:srgbClr val="155E75"/>
                </a:solidFill>
                <a:latin typeface="Calibri"/>
              </a:rPr>
              <a:t>Model upgrades</a:t>
            </a:r>
          </a:p>
        </p:txBody>
      </p:sp>
      <p:sp>
        <p:nvSpPr>
          <p:cNvPr id="16" name="Rounded Rectangle 15"/>
          <p:cNvSpPr/>
          <p:nvPr/>
        </p:nvSpPr>
        <p:spPr>
          <a:xfrm>
            <a:off x="2971800" y="4187952"/>
            <a:ext cx="8705088" cy="74980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250" b="0" i="0">
                <a:solidFill>
                  <a:srgbClr val="334155"/>
                </a:solidFill>
                <a:latin typeface="Calibri"/>
              </a:rPr>
              <a:t>Stacking/deep-learning comparison; validation on a second dataset; external validation with collected sensor data.</a:t>
            </a:r>
          </a:p>
        </p:txBody>
      </p:sp>
      <p:sp>
        <p:nvSpPr>
          <p:cNvPr id="17" name="Rounded Rectangle 16"/>
          <p:cNvSpPr/>
          <p:nvPr/>
        </p:nvSpPr>
        <p:spPr>
          <a:xfrm>
            <a:off x="521207" y="5065776"/>
            <a:ext cx="2286000" cy="749808"/>
          </a:xfrm>
          <a:prstGeom prst="roundRect">
            <a:avLst>
              <a:gd name="adj" fmla="val 10000"/>
            </a:avLst>
          </a:prstGeom>
          <a:solidFill>
            <a:srgbClr val="F0F9FA"/>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51206" bIns="51206" wrap="square"/>
          <a:lstStyle/>
          <a:p>
            <a:pPr algn="ctr">
              <a:lnSpc>
                <a:spcPct val="100000"/>
              </a:lnSpc>
              <a:spcAft>
                <a:spcPts val="600"/>
              </a:spcAft>
            </a:pPr>
            <a:r>
              <a:rPr sz="1300" b="1" i="0">
                <a:solidFill>
                  <a:srgbClr val="155E75"/>
                </a:solidFill>
                <a:latin typeface="Calibri"/>
              </a:rPr>
              <a:t>Clinical step</a:t>
            </a:r>
          </a:p>
        </p:txBody>
      </p:sp>
      <p:sp>
        <p:nvSpPr>
          <p:cNvPr id="18" name="Rounded Rectangle 17"/>
          <p:cNvSpPr/>
          <p:nvPr/>
        </p:nvSpPr>
        <p:spPr>
          <a:xfrm>
            <a:off x="2971800" y="5065776"/>
            <a:ext cx="8705088" cy="749808"/>
          </a:xfrm>
          <a:prstGeom prst="roundRect">
            <a:avLst>
              <a:gd name="adj" fmla="val 1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250" b="0" i="0">
                <a:solidFill>
                  <a:srgbClr val="334155"/>
                </a:solidFill>
                <a:latin typeface="Calibri"/>
              </a:rPr>
              <a:t>Small pilot study with ethics approval; mobile app for field health workers; Hindi/regional-language UI.</a:t>
            </a:r>
          </a:p>
        </p:txBody>
      </p:sp>
      <p:sp>
        <p:nvSpPr>
          <p:cNvPr id="19" name="Rounded Rectangle 18"/>
          <p:cNvSpPr/>
          <p:nvPr/>
        </p:nvSpPr>
        <p:spPr>
          <a:xfrm>
            <a:off x="521207" y="5989320"/>
            <a:ext cx="11155680" cy="457200"/>
          </a:xfrm>
          <a:prstGeom prst="roundRect">
            <a:avLst>
              <a:gd name="adj" fmla="val 8000"/>
            </a:avLst>
          </a:prstGeom>
          <a:solidFill>
            <a:srgbClr val="F0F9FA"/>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102412" bIns="102412" wrap="square"/>
          <a:lstStyle/>
          <a:p>
            <a:pPr algn="l">
              <a:lnSpc>
                <a:spcPct val="100000"/>
              </a:lnSpc>
              <a:spcAft>
                <a:spcPts val="600"/>
              </a:spcAft>
            </a:pPr>
            <a:r>
              <a:rPr sz="1250" b="1" i="0">
                <a:solidFill>
                  <a:srgbClr val="0F172A"/>
                </a:solidFill>
                <a:latin typeface="Calibri"/>
              </a:rPr>
              <a:t>Expected final outcome:  a working IoT screening prototype — sensor readings in, risk report out in &lt; 5 s, recall ≥ 90%.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21207" y="475488"/>
            <a:ext cx="146304" cy="1463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365760"/>
            <a:ext cx="9601200" cy="292608"/>
          </a:xfrm>
          <a:prstGeom prst="rect">
            <a:avLst/>
          </a:prstGeom>
          <a:noFill/>
        </p:spPr>
        <p:txBody>
          <a:bodyPr wrap="square" anchor="t">
            <a:spAutoFit/>
          </a:bodyPr>
          <a:lstStyle/>
          <a:p>
            <a:pPr algn="l">
              <a:lnSpc>
                <a:spcPct val="100000"/>
              </a:lnSpc>
              <a:spcAft>
                <a:spcPts val="600"/>
              </a:spcAft>
            </a:pPr>
            <a:r>
              <a:rPr sz="1100" b="1" i="0">
                <a:solidFill>
                  <a:srgbClr val="0E7490"/>
                </a:solidFill>
                <a:latin typeface="Calibri"/>
              </a:rPr>
              <a:t>REFERENCES</a:t>
            </a:r>
          </a:p>
        </p:txBody>
      </p:sp>
      <p:sp>
        <p:nvSpPr>
          <p:cNvPr id="4" name="TextBox 3"/>
          <p:cNvSpPr txBox="1"/>
          <p:nvPr/>
        </p:nvSpPr>
        <p:spPr>
          <a:xfrm>
            <a:off x="502920" y="658368"/>
            <a:ext cx="11155680" cy="566928"/>
          </a:xfrm>
          <a:prstGeom prst="rect">
            <a:avLst/>
          </a:prstGeom>
          <a:noFill/>
        </p:spPr>
        <p:txBody>
          <a:bodyPr wrap="square" anchor="t">
            <a:spAutoFit/>
          </a:bodyPr>
          <a:lstStyle/>
          <a:p>
            <a:pPr algn="l">
              <a:lnSpc>
                <a:spcPct val="100000"/>
              </a:lnSpc>
              <a:spcAft>
                <a:spcPts val="600"/>
              </a:spcAft>
            </a:pPr>
            <a:r>
              <a:rPr sz="2700" b="1" i="0">
                <a:solidFill>
                  <a:srgbClr val="0F172A"/>
                </a:solidFill>
                <a:latin typeface="Calibri"/>
              </a:rPr>
              <a:t>References</a:t>
            </a:r>
          </a:p>
        </p:txBody>
      </p:sp>
      <p:sp>
        <p:nvSpPr>
          <p:cNvPr id="5" name="Rectangle 4"/>
          <p:cNvSpPr/>
          <p:nvPr/>
        </p:nvSpPr>
        <p:spPr>
          <a:xfrm>
            <a:off x="521207" y="1298448"/>
            <a:ext cx="11155680" cy="177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21207" y="1298448"/>
            <a:ext cx="1051560" cy="330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73952"/>
            <a:ext cx="8229600" cy="274320"/>
          </a:xfrm>
          <a:prstGeom prst="rect">
            <a:avLst/>
          </a:prstGeom>
          <a:noFill/>
        </p:spPr>
        <p:txBody>
          <a:bodyPr wrap="square" anchor="t">
            <a:spAutoFit/>
          </a:bodyPr>
          <a:lstStyle/>
          <a:p>
            <a:pPr algn="l">
              <a:lnSpc>
                <a:spcPct val="100000"/>
              </a:lnSpc>
              <a:spcAft>
                <a:spcPts val="600"/>
              </a:spcAft>
            </a:pPr>
            <a:r>
              <a:rPr sz="900" b="0" i="0">
                <a:solidFill>
                  <a:srgbClr val="64748B"/>
                </a:solidFill>
                <a:latin typeface="Calibri"/>
              </a:rPr>
              <a:t>IoT-Based Liver Disease Risk Prediction  •  Mid Review – Individual Project</a:t>
            </a:r>
          </a:p>
        </p:txBody>
      </p:sp>
      <p:sp>
        <p:nvSpPr>
          <p:cNvPr id="8" name="TextBox 7"/>
          <p:cNvSpPr txBox="1"/>
          <p:nvPr/>
        </p:nvSpPr>
        <p:spPr>
          <a:xfrm>
            <a:off x="11247120" y="6473952"/>
            <a:ext cx="502920" cy="274320"/>
          </a:xfrm>
          <a:prstGeom prst="rect">
            <a:avLst/>
          </a:prstGeom>
          <a:noFill/>
        </p:spPr>
        <p:txBody>
          <a:bodyPr wrap="square" anchor="t">
            <a:spAutoFit/>
          </a:bodyPr>
          <a:lstStyle/>
          <a:p>
            <a:pPr algn="r">
              <a:lnSpc>
                <a:spcPct val="100000"/>
              </a:lnSpc>
              <a:spcAft>
                <a:spcPts val="600"/>
              </a:spcAft>
            </a:pPr>
            <a:r>
              <a:rPr sz="1000" b="0" i="0">
                <a:solidFill>
                  <a:srgbClr val="64748B"/>
                </a:solidFill>
                <a:latin typeface="Calibri"/>
              </a:rPr>
              <a:t>14</a:t>
            </a:r>
          </a:p>
        </p:txBody>
      </p:sp>
      <p:sp>
        <p:nvSpPr>
          <p:cNvPr id="9" name="Rectangle 8"/>
          <p:cNvSpPr/>
          <p:nvPr/>
        </p:nvSpPr>
        <p:spPr>
          <a:xfrm>
            <a:off x="521207" y="1481328"/>
            <a:ext cx="553212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lstStyle/>
          <a:p>
            <a:pPr algn="l">
              <a:lnSpc>
                <a:spcPct val="105000"/>
              </a:lnSpc>
              <a:spcAft>
                <a:spcPts val="1100"/>
              </a:spcAft>
            </a:pPr>
            <a:r>
              <a:rPr sz="1150" b="0" i="0">
                <a:solidFill>
                  <a:srgbClr val="334155"/>
                </a:solidFill>
                <a:latin typeface="Calibri"/>
              </a:rPr>
              <a:t>1.  J. H. Joloudari, H. Saadatfar, A. Dehzangi, S. Shamshirband, “Computer-aided decision-making for predicting liver disease using PSO-based optimized SVM with feature selection,” Informatics in Medicine Unlocked, vol. 17, p. 100255, 2019.</a:t>
            </a:r>
          </a:p>
          <a:p>
            <a:pPr algn="l">
              <a:lnSpc>
                <a:spcPct val="105000"/>
              </a:lnSpc>
              <a:spcAft>
                <a:spcPts val="1100"/>
              </a:spcAft>
            </a:pPr>
            <a:r>
              <a:rPr sz="1150" b="0" i="0">
                <a:solidFill>
                  <a:srgbClr val="334155"/>
                </a:solidFill>
                <a:latin typeface="Calibri"/>
              </a:rPr>
              <a:t>2.  J. Singh, S. Bagga, R. Kaur, “Software-based prediction of liver disease with feature selection and classification techniques,” Procedia Computer Science, vol. 167, pp. 1970–1980, 2020.</a:t>
            </a:r>
          </a:p>
          <a:p>
            <a:pPr algn="l">
              <a:lnSpc>
                <a:spcPct val="105000"/>
              </a:lnSpc>
              <a:spcAft>
                <a:spcPts val="1100"/>
              </a:spcAft>
            </a:pPr>
            <a:r>
              <a:rPr sz="1150" b="0" i="0">
                <a:solidFill>
                  <a:srgbClr val="334155"/>
                </a:solidFill>
                <a:latin typeface="Calibri"/>
              </a:rPr>
              <a:t>3.  M. R. Haque, M. M. Islam, H. Iqbal, M. S. Reza, M. K. Hasan, “Performance evaluation of random forests and artificial neural networks for the classification of liver disorder,” in Proc. Int. Conf. on Computer, Communication, Chemical, Material and Electronic Engineering (IC4ME2), IEEE, 2018.</a:t>
            </a:r>
          </a:p>
          <a:p>
            <a:pPr algn="l">
              <a:lnSpc>
                <a:spcPct val="105000"/>
              </a:lnSpc>
              <a:spcAft>
                <a:spcPts val="1100"/>
              </a:spcAft>
            </a:pPr>
            <a:r>
              <a:rPr sz="1150" b="0" i="0">
                <a:solidFill>
                  <a:srgbClr val="334155"/>
                </a:solidFill>
                <a:latin typeface="Calibri"/>
              </a:rPr>
              <a:t>4.  S. Tokala, K. Hajarathaiah, S. R. P. Gunda et al., “Liver disease prediction and classification using machine learning techniques,” Int. J. of Advanced Computer Science and Applications (IJACSA), vol. 14, no. 2, 2023.</a:t>
            </a:r>
          </a:p>
          <a:p>
            <a:pPr algn="l">
              <a:lnSpc>
                <a:spcPct val="105000"/>
              </a:lnSpc>
              <a:spcAft>
                <a:spcPts val="1100"/>
              </a:spcAft>
            </a:pPr>
            <a:r>
              <a:rPr sz="1150" b="0" i="0">
                <a:solidFill>
                  <a:srgbClr val="334155"/>
                </a:solidFill>
                <a:latin typeface="Calibri"/>
              </a:rPr>
              <a:t>5.  A. Ahad, B. Das, M. R. Khan, N. Saha, A. Zahid, M. Ahmad, “Multiclass liver disease prediction with adaptive data preprocessing and ensemble modeling,” Results in Engineering, vol. 22, p. 102059, 2024.</a:t>
            </a:r>
          </a:p>
          <a:p>
            <a:pPr algn="l">
              <a:lnSpc>
                <a:spcPct val="105000"/>
              </a:lnSpc>
              <a:spcAft>
                <a:spcPts val="1100"/>
              </a:spcAft>
            </a:pPr>
            <a:r>
              <a:rPr sz="1150" b="0" i="0">
                <a:solidFill>
                  <a:srgbClr val="334155"/>
                </a:solidFill>
                <a:latin typeface="Calibri"/>
              </a:rPr>
              <a:t>6.  W. El Atifi, O. El Rhazouani, F. M. Khan, H. Sekkat, “Optimizing ensemble machine learning models for accurate liver disease prediction in healthcare,” PLOS ONE, vol. 20, no. 8, p. e0330899, 2025.</a:t>
            </a:r>
          </a:p>
        </p:txBody>
      </p:sp>
      <p:sp>
        <p:nvSpPr>
          <p:cNvPr id="10" name="Rectangle 9"/>
          <p:cNvSpPr/>
          <p:nvPr/>
        </p:nvSpPr>
        <p:spPr>
          <a:xfrm>
            <a:off x="6172200" y="1481328"/>
            <a:ext cx="5532120" cy="47548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lstStyle/>
          <a:p>
            <a:pPr algn="l">
              <a:lnSpc>
                <a:spcPct val="105000"/>
              </a:lnSpc>
              <a:spcAft>
                <a:spcPts val="1100"/>
              </a:spcAft>
            </a:pPr>
            <a:r>
              <a:rPr sz="1150" b="0" i="0">
                <a:solidFill>
                  <a:srgbClr val="334155"/>
                </a:solidFill>
                <a:latin typeface="Calibri"/>
              </a:rPr>
              <a:t>7.  “Applying machine learning algorithms for liver disease prediction,” Proc. Int. Conf. on Data Science and Applications (ICDSA), Springer, 2025.</a:t>
            </a:r>
          </a:p>
          <a:p>
            <a:pPr algn="l">
              <a:lnSpc>
                <a:spcPct val="105000"/>
              </a:lnSpc>
              <a:spcAft>
                <a:spcPts val="1100"/>
              </a:spcAft>
            </a:pPr>
            <a:r>
              <a:rPr sz="1150" b="0" i="0">
                <a:solidFill>
                  <a:srgbClr val="334155"/>
                </a:solidFill>
                <a:latin typeface="Calibri"/>
              </a:rPr>
              <a:t>8.  R. Uddin, M. A. R. Khan, J. R. Das, I. Ahammad, S. Debnath, F. Afrin, “Intelligent technique in early liver disease prediction using real data samples from the perspective of Bangladesh,” Network Modeling Analysis in Health Informatics and Bioinformatics, Springer, 2026.</a:t>
            </a:r>
          </a:p>
          <a:p>
            <a:pPr algn="l">
              <a:lnSpc>
                <a:spcPct val="105000"/>
              </a:lnSpc>
              <a:spcAft>
                <a:spcPts val="1100"/>
              </a:spcAft>
            </a:pPr>
            <a:r>
              <a:rPr sz="1150" b="0" i="0">
                <a:solidFill>
                  <a:srgbClr val="334155"/>
                </a:solidFill>
                <a:latin typeface="Calibri"/>
              </a:rPr>
              <a:t>9.  “LivXAI-Net: An explainable AI framework for liver disease diagnosis with IoT-based real-time monitoring support,” Computer Methods and Programs in Biomedicine, 2025.</a:t>
            </a:r>
          </a:p>
          <a:p>
            <a:pPr algn="l">
              <a:lnSpc>
                <a:spcPct val="105000"/>
              </a:lnSpc>
              <a:spcAft>
                <a:spcPts val="1100"/>
              </a:spcAft>
            </a:pPr>
            <a:r>
              <a:rPr sz="1150" b="0" i="0">
                <a:solidFill>
                  <a:srgbClr val="334155"/>
                </a:solidFill>
                <a:latin typeface="Calibri"/>
              </a:rPr>
              <a:t>10. A. Fatoni, M. D. Anggraeni, E. Rahmawati, “Non-invasive wearable sensor for real-time neonatal jaundice monitoring using forehead skin tone analysis,” Analytica, vol. 6, no. 1, p. 6, 2025.</a:t>
            </a:r>
          </a:p>
          <a:p>
            <a:pPr algn="l">
              <a:lnSpc>
                <a:spcPct val="105000"/>
              </a:lnSpc>
              <a:spcAft>
                <a:spcPts val="1100"/>
              </a:spcAft>
            </a:pPr>
            <a:r>
              <a:rPr sz="1150" b="0" i="0">
                <a:solidFill>
                  <a:srgbClr val="334155"/>
                </a:solidFill>
                <a:latin typeface="Calibri"/>
              </a:rPr>
              <a:t>11. N. Anzar et al., “Electrochemical sensor for bilirubin detection using paper-based screen-printed electrodes functionalized with silver nanoparticles,” Micromachines, vol. 13, no. 11, p. 1845, 2022.</a:t>
            </a:r>
          </a:p>
          <a:p>
            <a:pPr algn="l">
              <a:lnSpc>
                <a:spcPct val="105000"/>
              </a:lnSpc>
              <a:spcAft>
                <a:spcPts val="1100"/>
              </a:spcAft>
            </a:pPr>
            <a:r>
              <a:rPr sz="1150" b="0" i="0">
                <a:solidFill>
                  <a:srgbClr val="334155"/>
                </a:solidFill>
                <a:latin typeface="Calibri"/>
              </a:rPr>
              <a:t>12. B. Ramana, N. Venkateswarlu, “ILPD (Indian Liver Patient Dataset),” UCI Machine Learning Repository #225 / Kaggle: uciml/indian-liver-patient-records, 2012. [Dataset]</a:t>
            </a:r>
          </a:p>
          <a:p>
            <a:pPr algn="l">
              <a:lnSpc>
                <a:spcPct val="105000"/>
              </a:lnSpc>
              <a:spcAft>
                <a:spcPts val="1100"/>
              </a:spcAft>
            </a:pPr>
            <a:r>
              <a:rPr sz="1150" b="0" i="0">
                <a:solidFill>
                  <a:srgbClr val="334155"/>
                </a:solidFill>
                <a:latin typeface="Calibri"/>
              </a:rPr>
              <a:t>13. S. K. Asrani, H. Devarbhavi, J. Eaton, P. S. Kamath, “Burden of liver diseases in the world,” Journal of Hepatology, vol. 70, no. 1, pp. 151–171, 2019.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